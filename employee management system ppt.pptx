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60" r:id="rId5"/>
    <p:sldId id="261" r:id="rId6"/>
    <p:sldId id="262" r:id="rId7"/>
    <p:sldId id="284" r:id="rId8"/>
    <p:sldId id="285" r:id="rId9"/>
    <p:sldId id="286" r:id="rId10"/>
    <p:sldId id="265" r:id="rId11"/>
    <p:sldId id="266" r:id="rId12"/>
    <p:sldId id="267" r:id="rId13"/>
    <p:sldId id="268" r:id="rId14"/>
    <p:sldId id="270" r:id="rId15"/>
    <p:sldId id="271" r:id="rId16"/>
    <p:sldId id="272" r:id="rId17"/>
    <p:sldId id="273" r:id="rId18"/>
    <p:sldId id="276" r:id="rId19"/>
    <p:sldId id="282" r:id="rId20"/>
    <p:sldId id="281" r:id="rId21"/>
    <p:sldId id="280" r:id="rId22"/>
    <p:sldId id="283" r:id="rId23"/>
    <p:sldId id="259" r:id="rId24"/>
  </p:sldIdLst>
  <p:sldSz cx="12192000" cy="6858000"/>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galapalwar-shivani-04782640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shivanigalpalwar"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69574"/>
            <a:ext cx="12190815" cy="6706475"/>
          </a:xfrm>
          <a:prstGeom prst="rect">
            <a:avLst/>
          </a:prstGeom>
          <a:noFill/>
          <a:ln>
            <a:noFill/>
          </a:ln>
        </p:spPr>
      </p:pic>
      <p:sp>
        <p:nvSpPr>
          <p:cNvPr id="99" name="Google Shape;99;p1"/>
          <p:cNvSpPr txBox="1"/>
          <p:nvPr/>
        </p:nvSpPr>
        <p:spPr>
          <a:xfrm>
            <a:off x="2472904" y="3717986"/>
            <a:ext cx="7246189" cy="1169511"/>
          </a:xfrm>
          <a:prstGeom prst="rect">
            <a:avLst/>
          </a:prstGeom>
          <a:noFill/>
          <a:ln>
            <a:noFill/>
          </a:ln>
        </p:spPr>
        <p:txBody>
          <a:bodyPr spcFirstLastPara="1" wrap="square" lIns="91425" tIns="45700" rIns="91425" bIns="45700" anchor="t" anchorCtr="0">
            <a:spAutoFit/>
          </a:bodyPr>
          <a:lstStyle/>
          <a:p>
            <a:br>
              <a:rPr lang="en-IN" sz="1800" b="0" i="0" u="none" strike="noStrike" cap="none" dirty="0">
                <a:solidFill>
                  <a:schemeClr val="dk1"/>
                </a:solidFill>
                <a:latin typeface="Calibri"/>
                <a:ea typeface="Calibri"/>
                <a:cs typeface="Calibri"/>
                <a:sym typeface="Calibri"/>
              </a:rPr>
            </a:br>
            <a:r>
              <a:rPr lang="en-IN" sz="1800" b="0" i="0" u="none" strike="noStrike" cap="none" dirty="0">
                <a:solidFill>
                  <a:schemeClr val="dk1"/>
                </a:solidFill>
                <a:latin typeface="Calibri"/>
                <a:ea typeface="Calibri"/>
                <a:cs typeface="Calibri"/>
                <a:sym typeface="Calibri"/>
              </a:rPr>
              <a:t>                         </a:t>
            </a:r>
            <a:r>
              <a:rPr lang="en-US" sz="2400" b="1" u="sng" dirty="0"/>
              <a:t>Employee Management System</a:t>
            </a:r>
          </a:p>
          <a:p>
            <a:r>
              <a:rPr lang="en-US" dirty="0"/>
              <a:t> </a:t>
            </a: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70A43874-17B3-C664-E685-3614373698B9}"/>
              </a:ext>
            </a:extLst>
          </p:cNvPr>
          <p:cNvSpPr txBox="1"/>
          <p:nvPr/>
        </p:nvSpPr>
        <p:spPr>
          <a:xfrm rot="10800000" flipH="1" flipV="1">
            <a:off x="9253330" y="5225764"/>
            <a:ext cx="2653745" cy="923330"/>
          </a:xfrm>
          <a:prstGeom prst="rect">
            <a:avLst/>
          </a:prstGeom>
          <a:noFill/>
        </p:spPr>
        <p:txBody>
          <a:bodyPr wrap="square" rtlCol="0">
            <a:spAutoFit/>
          </a:bodyPr>
          <a:lstStyle/>
          <a:p>
            <a:r>
              <a:rPr lang="en-US" sz="1800" b="1" dirty="0">
                <a:solidFill>
                  <a:srgbClr val="FF0000"/>
                </a:solidFill>
              </a:rPr>
              <a:t>Presented by :</a:t>
            </a:r>
          </a:p>
          <a:p>
            <a:r>
              <a:rPr lang="en-US" sz="1800" b="1" dirty="0">
                <a:solidFill>
                  <a:schemeClr val="tx1">
                    <a:lumMod val="85000"/>
                    <a:lumOff val="15000"/>
                  </a:schemeClr>
                </a:solidFill>
              </a:rPr>
              <a:t>Galapalwar Shivani</a:t>
            </a:r>
          </a:p>
          <a:p>
            <a:r>
              <a:rPr lang="en-US" sz="1800" b="1" dirty="0">
                <a:solidFill>
                  <a:srgbClr val="FF0000"/>
                </a:solidFill>
              </a:rPr>
              <a:t>Batch No : </a:t>
            </a:r>
            <a:r>
              <a:rPr lang="en-US" sz="1800" b="1" dirty="0">
                <a:solidFill>
                  <a:schemeClr val="tx1">
                    <a:lumMod val="95000"/>
                    <a:lumOff val="5000"/>
                  </a:schemeClr>
                </a:solidFill>
              </a:rPr>
              <a:t>536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169963"/>
            <a:ext cx="11578815" cy="4093388"/>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IN" sz="24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rPr>
              <a:t>Background :</a:t>
            </a:r>
          </a:p>
          <a:p>
            <a:pPr marR="0" lvl="0" algn="l" rtl="0">
              <a:lnSpc>
                <a:spcPct val="100000"/>
              </a:lnSpc>
              <a:spcBef>
                <a:spcPts val="0"/>
              </a:spcBef>
              <a:spcAft>
                <a:spcPts val="0"/>
              </a:spcAft>
              <a:buClr>
                <a:schemeClr val="dk1"/>
              </a:buClr>
              <a:buSzPts val="2400"/>
            </a:pPr>
            <a:r>
              <a:rPr lang="en-IN"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IN"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 completed my Bachelor of Technology in CSE from Bharat institute of engineering and technology</a:t>
            </a:r>
            <a:endParaRPr lang="en-IN"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l" rtl="0">
              <a:lnSpc>
                <a:spcPct val="100000"/>
              </a:lnSpc>
              <a:spcBef>
                <a:spcPts val="0"/>
              </a:spcBef>
              <a:spcAft>
                <a:spcPts val="0"/>
              </a:spcAft>
              <a:buClr>
                <a:schemeClr val="dk1"/>
              </a:buClr>
              <a:buSzPts val="2400"/>
            </a:pPr>
            <a:r>
              <a:rPr lang="en-IN" sz="24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rPr>
              <a:t>Why you want to learn Data Science :</a:t>
            </a:r>
          </a:p>
          <a:p>
            <a:pPr lvl="0">
              <a:buClr>
                <a:schemeClr val="dk1"/>
              </a:buClr>
              <a:buSzPts val="2400"/>
            </a:pPr>
            <a:r>
              <a:rPr lang="en-US" sz="2400" b="1" dirty="0">
                <a:latin typeface="Calibri" panose="020F0502020204030204" pitchFamily="34" charset="0"/>
                <a:ea typeface="Calibri" panose="020F0502020204030204" pitchFamily="34" charset="0"/>
                <a:cs typeface="Calibri" panose="020F0502020204030204" pitchFamily="34" charset="0"/>
              </a:rPr>
              <a:t>I want to learn Data Science to turn data into meaningful insights and build practical                                solutions using data.</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lvl="0">
              <a:buClr>
                <a:schemeClr val="dk1"/>
              </a:buClr>
              <a:buSzPts val="2400"/>
            </a:pPr>
            <a:r>
              <a:rPr lang="en-IN" sz="24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rPr>
              <a:t>Any work experience : </a:t>
            </a:r>
          </a:p>
          <a:p>
            <a:pPr lvl="0">
              <a:buClr>
                <a:schemeClr val="dk1"/>
              </a:buClr>
              <a:buSzPts val="2400"/>
            </a:pPr>
            <a:r>
              <a:rPr lang="en-US" sz="2400" b="1" dirty="0">
                <a:latin typeface="Calibri" panose="020F0502020204030204" pitchFamily="34" charset="0"/>
                <a:ea typeface="Calibri" panose="020F0502020204030204" pitchFamily="34" charset="0"/>
                <a:cs typeface="Calibri" panose="020F0502020204030204" pitchFamily="34" charset="0"/>
              </a:rPr>
              <a:t>Fresher </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lvl="0">
              <a:buClr>
                <a:schemeClr val="dk1"/>
              </a:buClr>
              <a:buSzPts val="2400"/>
            </a:pPr>
            <a:r>
              <a:rPr lang="en-IN" sz="2400" b="1" dirty="0">
                <a:solidFill>
                  <a:srgbClr val="FF0000"/>
                </a:solidFill>
                <a:latin typeface="Calibri"/>
                <a:ea typeface="Calibri"/>
                <a:cs typeface="Calibri"/>
                <a:sym typeface="Calibri"/>
              </a:rPr>
              <a:t>LinkedIn :</a:t>
            </a:r>
            <a:r>
              <a:rPr lang="en-IN" sz="2400" b="1" dirty="0">
                <a:solidFill>
                  <a:schemeClr val="dk1"/>
                </a:solidFill>
                <a:latin typeface="Calibri"/>
                <a:ea typeface="Calibri"/>
                <a:cs typeface="Calibri"/>
                <a:sym typeface="Calibri"/>
              </a:rPr>
              <a:t> </a:t>
            </a:r>
            <a:r>
              <a:rPr lang="en-IN" sz="2400" b="1" dirty="0">
                <a:solidFill>
                  <a:schemeClr val="dk1"/>
                </a:solidFill>
                <a:latin typeface="Calibri"/>
                <a:ea typeface="Calibri"/>
                <a:cs typeface="Calibri"/>
                <a:sym typeface="Calibri"/>
                <a:hlinkClick r:id="rId3"/>
              </a:rPr>
              <a:t>https://www.linkedin.com/in/galapalwar-shivani-04782640b/</a:t>
            </a:r>
            <a:endParaRPr lang="en-IN" sz="2400" b="1" i="0" u="none" strike="noStrike" cap="none" dirty="0">
              <a:solidFill>
                <a:schemeClr val="dk1"/>
              </a:solidFill>
              <a:latin typeface="Calibri"/>
              <a:ea typeface="Calibri"/>
              <a:cs typeface="Calibri"/>
              <a:sym typeface="Calibri"/>
            </a:endParaRPr>
          </a:p>
          <a:p>
            <a:pPr lvl="0">
              <a:buClr>
                <a:schemeClr val="dk1"/>
              </a:buClr>
              <a:buSzPts val="2400"/>
            </a:pPr>
            <a:r>
              <a:rPr lang="en-IN" sz="2400" b="1" dirty="0">
                <a:solidFill>
                  <a:srgbClr val="FF0000"/>
                </a:solidFill>
                <a:latin typeface="Calibri"/>
                <a:ea typeface="Calibri"/>
                <a:cs typeface="Calibri"/>
                <a:sym typeface="Calibri"/>
              </a:rPr>
              <a:t>GitHub : </a:t>
            </a:r>
            <a:r>
              <a:rPr lang="en-IN" sz="2400" b="1" dirty="0">
                <a:solidFill>
                  <a:schemeClr val="dk1"/>
                </a:solidFill>
                <a:latin typeface="Calibri"/>
                <a:ea typeface="Calibri"/>
                <a:cs typeface="Calibri"/>
                <a:sym typeface="Calibri"/>
                <a:hlinkClick r:id="rId4"/>
              </a:rPr>
              <a:t>https://github.com/shivanigalpalwar</a:t>
            </a:r>
            <a:endParaRPr lang="en-IN" sz="2400" b="1" dirty="0">
              <a:solidFill>
                <a:schemeClr val="dk1"/>
              </a:solidFill>
              <a:latin typeface="Calibri"/>
              <a:ea typeface="Calibri"/>
              <a:cs typeface="Calibri"/>
              <a:sym typeface="Calibri"/>
            </a:endParaRPr>
          </a:p>
          <a:p>
            <a:pPr lvl="0">
              <a:buClr>
                <a:schemeClr val="dk1"/>
              </a:buClr>
              <a:buSzPts val="2400"/>
            </a:pPr>
            <a:endParaRPr sz="20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    </a:t>
            </a:r>
            <a:r>
              <a:rPr lang="en-IN" sz="3200" b="1" dirty="0">
                <a:solidFill>
                  <a:srgbClr val="FF0000"/>
                </a:solidFill>
                <a:latin typeface="+mj-lt"/>
              </a:rPr>
              <a:t>Agenda:</a:t>
            </a:r>
            <a:endParaRPr sz="3200" b="1" dirty="0">
              <a:solidFill>
                <a:srgbClr val="FF0000"/>
              </a:solidFill>
              <a:latin typeface="+mj-lt"/>
            </a:endParaRPr>
          </a:p>
        </p:txBody>
      </p:sp>
      <p:sp>
        <p:nvSpPr>
          <p:cNvPr id="111" name="Google Shape;111;p4"/>
          <p:cNvSpPr txBox="1">
            <a:spLocks noGrp="1"/>
          </p:cNvSpPr>
          <p:nvPr>
            <p:ph type="body" idx="1"/>
          </p:nvPr>
        </p:nvSpPr>
        <p:spPr>
          <a:xfrm>
            <a:off x="684880" y="1182757"/>
            <a:ext cx="10515600" cy="5087611"/>
          </a:xfrm>
          <a:prstGeom prst="rect">
            <a:avLst/>
          </a:prstGeom>
          <a:noFill/>
          <a:ln>
            <a:noFill/>
          </a:ln>
        </p:spPr>
        <p:txBody>
          <a:bodyPr spcFirstLastPara="1" wrap="square" lIns="91425" tIns="45700" rIns="91425" bIns="45700" anchor="t" anchorCtr="0">
            <a:normAutofit/>
          </a:bodyPr>
          <a:lstStyle/>
          <a:p>
            <a:r>
              <a:rPr lang="en-US" sz="2400" dirty="0">
                <a:solidFill>
                  <a:schemeClr val="tx1">
                    <a:lumMod val="95000"/>
                    <a:lumOff val="5000"/>
                  </a:schemeClr>
                </a:solidFill>
              </a:rPr>
              <a:t>Business Problem </a:t>
            </a:r>
          </a:p>
          <a:p>
            <a:r>
              <a:rPr lang="en-US" sz="2400" dirty="0">
                <a:solidFill>
                  <a:schemeClr val="tx1">
                    <a:lumMod val="95000"/>
                    <a:lumOff val="5000"/>
                  </a:schemeClr>
                </a:solidFill>
              </a:rPr>
              <a:t>Problem Statement </a:t>
            </a:r>
          </a:p>
          <a:p>
            <a:r>
              <a:rPr lang="en-US" sz="2400" dirty="0">
                <a:solidFill>
                  <a:schemeClr val="tx1">
                    <a:lumMod val="95000"/>
                    <a:lumOff val="5000"/>
                  </a:schemeClr>
                </a:solidFill>
              </a:rPr>
              <a:t>Introduction</a:t>
            </a:r>
          </a:p>
          <a:p>
            <a:r>
              <a:rPr lang="en-US" sz="24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Data Description</a:t>
            </a:r>
          </a:p>
          <a:p>
            <a:r>
              <a:rPr lang="en-US" sz="2400" dirty="0">
                <a:solidFill>
                  <a:schemeClr val="tx1">
                    <a:lumMod val="95000"/>
                    <a:lumOff val="5000"/>
                  </a:schemeClr>
                </a:solidFill>
              </a:rPr>
              <a:t>Queries and Results </a:t>
            </a:r>
          </a:p>
          <a:p>
            <a:r>
              <a:rPr lang="en-US" sz="2400" dirty="0">
                <a:solidFill>
                  <a:schemeClr val="tx1">
                    <a:lumMod val="95000"/>
                    <a:lumOff val="5000"/>
                  </a:schemeClr>
                </a:solidFill>
              </a:rPr>
              <a:t>Key Insights</a:t>
            </a:r>
          </a:p>
          <a:p>
            <a:r>
              <a:rPr lang="en-US" sz="2400" dirty="0">
                <a:solidFill>
                  <a:schemeClr val="tx1">
                    <a:lumMod val="95000"/>
                    <a:lumOff val="5000"/>
                  </a:schemeClr>
                </a:solidFill>
              </a:rPr>
              <a:t>Recommendations</a:t>
            </a:r>
          </a:p>
          <a:p>
            <a:r>
              <a:rPr lang="en-US" sz="2400" dirty="0">
                <a:solidFill>
                  <a:schemeClr val="tx1">
                    <a:lumMod val="95000"/>
                    <a:lumOff val="5000"/>
                  </a:schemeClr>
                </a:solidFill>
              </a:rPr>
              <a:t>Conclusion</a:t>
            </a:r>
          </a:p>
          <a:p>
            <a:endParaRPr lang="en-US" sz="2400" b="1" u="sng"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FFC4B7-78D4-71E4-63D6-98BD32F12514}"/>
              </a:ext>
            </a:extLst>
          </p:cNvPr>
          <p:cNvSpPr txBox="1"/>
          <p:nvPr/>
        </p:nvSpPr>
        <p:spPr>
          <a:xfrm>
            <a:off x="437322" y="536713"/>
            <a:ext cx="11062251" cy="4031873"/>
          </a:xfrm>
          <a:prstGeom prst="rect">
            <a:avLst/>
          </a:prstGeom>
          <a:noFill/>
        </p:spPr>
        <p:txBody>
          <a:bodyPr wrap="square" rtlCol="0">
            <a:spAutoFit/>
          </a:bodyPr>
          <a:lstStyle/>
          <a:p>
            <a:r>
              <a:rPr lang="en-US" sz="3200" b="1" u="sng" dirty="0">
                <a:solidFill>
                  <a:srgbClr val="FF0000"/>
                </a:solidFill>
              </a:rPr>
              <a:t>Business Problem :</a:t>
            </a:r>
          </a:p>
          <a:p>
            <a:endParaRPr lang="en-US" sz="3200" b="1" u="sng"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Organizations manage a large amount of employee information, including employee details, job roles, departments, salaries, qualifications, leaves, and payroll. Managing and analyzing this information manually can be time-consuming and may make it difficult to identify important workforce trends. HR teams need a structured system to understand employee distribution, salary allocation, job roles, leave patterns, bonuses, and payroll. Therefore, there is a need for an efficient database system that organizes employee information and supports meaningful analysis for better HR and compensation-related decision-making.</a:t>
            </a:r>
          </a:p>
        </p:txBody>
      </p:sp>
    </p:spTree>
    <p:extLst>
      <p:ext uri="{BB962C8B-B14F-4D97-AF65-F5344CB8AC3E}">
        <p14:creationId xmlns:p14="http://schemas.microsoft.com/office/powerpoint/2010/main" val="1910004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370587-99AA-142C-5529-6CB33E4BC78B}"/>
              </a:ext>
            </a:extLst>
          </p:cNvPr>
          <p:cNvSpPr txBox="1"/>
          <p:nvPr/>
        </p:nvSpPr>
        <p:spPr>
          <a:xfrm>
            <a:off x="606287" y="606287"/>
            <a:ext cx="11111948" cy="4031873"/>
          </a:xfrm>
          <a:prstGeom prst="rect">
            <a:avLst/>
          </a:prstGeom>
          <a:noFill/>
        </p:spPr>
        <p:txBody>
          <a:bodyPr wrap="square" rtlCol="0">
            <a:spAutoFit/>
          </a:bodyPr>
          <a:lstStyle/>
          <a:p>
            <a:r>
              <a:rPr lang="en-US" sz="3200" b="1" u="sng" dirty="0">
                <a:solidFill>
                  <a:srgbClr val="FF0000"/>
                </a:solidFill>
              </a:rPr>
              <a:t>Problem Statement :</a:t>
            </a:r>
          </a:p>
          <a:p>
            <a:endParaRPr lang="en-US" sz="3200" b="1" u="sng"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b="1" dirty="0">
                <a:latin typeface="Calibri" panose="020F0502020204030204" pitchFamily="34" charset="0"/>
                <a:ea typeface="Calibri" panose="020F0502020204030204" pitchFamily="34" charset="0"/>
                <a:cs typeface="Calibri" panose="020F0502020204030204" pitchFamily="34" charset="0"/>
              </a:rPr>
              <a:t>Employee Management System</a:t>
            </a:r>
            <a:r>
              <a:rPr lang="en-US" sz="2400" dirty="0">
                <a:latin typeface="Calibri" panose="020F0502020204030204" pitchFamily="34" charset="0"/>
                <a:ea typeface="Calibri" panose="020F0502020204030204" pitchFamily="34" charset="0"/>
                <a:cs typeface="Calibri" panose="020F0502020204030204" pitchFamily="34" charset="0"/>
              </a:rPr>
              <a:t> is designed using SQL to store and analyze employee-related information in a structured manner. The project covers employee details, departments, job roles, salary ranges, qualifications, leaves, and payroll records. SQL queries are used to generate insights such as employee counts, average salary ranges, highest-paid roles, qualification patterns, leave trends, monthly payroll, and bonuses. The project also applies advanced SQL concepts such as </a:t>
            </a:r>
            <a:r>
              <a:rPr lang="en-US" sz="2400" b="1" dirty="0">
                <a:latin typeface="Calibri" panose="020F0502020204030204" pitchFamily="34" charset="0"/>
                <a:ea typeface="Calibri" panose="020F0502020204030204" pitchFamily="34" charset="0"/>
                <a:cs typeface="Calibri" panose="020F0502020204030204" pitchFamily="34" charset="0"/>
              </a:rPr>
              <a:t>joins, subqueries, CTEs, derived tables, EXISTS, window functions, and stored procedures</a:t>
            </a:r>
            <a:r>
              <a:rPr lang="en-US" sz="2400" dirty="0">
                <a:latin typeface="Calibri" panose="020F0502020204030204" pitchFamily="34" charset="0"/>
                <a:ea typeface="Calibri" panose="020F0502020204030204" pitchFamily="34" charset="0"/>
                <a:cs typeface="Calibri" panose="020F0502020204030204" pitchFamily="34" charset="0"/>
              </a:rPr>
              <a:t> to perform effective data analysis.</a:t>
            </a:r>
          </a:p>
        </p:txBody>
      </p:sp>
    </p:spTree>
    <p:extLst>
      <p:ext uri="{BB962C8B-B14F-4D97-AF65-F5344CB8AC3E}">
        <p14:creationId xmlns:p14="http://schemas.microsoft.com/office/powerpoint/2010/main" val="2745016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4AC72F-16ED-07B5-0E12-24A03CE74D45}"/>
              </a:ext>
            </a:extLst>
          </p:cNvPr>
          <p:cNvSpPr txBox="1"/>
          <p:nvPr/>
        </p:nvSpPr>
        <p:spPr>
          <a:xfrm>
            <a:off x="427383" y="427384"/>
            <a:ext cx="11032434" cy="5139869"/>
          </a:xfrm>
          <a:prstGeom prst="rect">
            <a:avLst/>
          </a:prstGeom>
          <a:noFill/>
        </p:spPr>
        <p:txBody>
          <a:bodyPr wrap="square" rtlCol="0">
            <a:spAutoFit/>
          </a:bodyPr>
          <a:lstStyle/>
          <a:p>
            <a:r>
              <a:rPr lang="en-US" sz="3200" b="1" u="sng" dirty="0">
                <a:solidFill>
                  <a:srgbClr val="FF0000"/>
                </a:solidFill>
              </a:rPr>
              <a:t>Introduction</a:t>
            </a:r>
          </a:p>
          <a:p>
            <a:endParaRPr lang="en-US" sz="3200" b="1" u="sng"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This project is based on an </a:t>
            </a:r>
            <a:r>
              <a:rPr lang="en-US" sz="2400" b="1" dirty="0">
                <a:latin typeface="Calibri" panose="020F0502020204030204" pitchFamily="34" charset="0"/>
                <a:ea typeface="Calibri" panose="020F0502020204030204" pitchFamily="34" charset="0"/>
                <a:cs typeface="Calibri" panose="020F0502020204030204" pitchFamily="34" charset="0"/>
              </a:rPr>
              <a:t>Employee Management System</a:t>
            </a:r>
            <a:r>
              <a:rPr lang="en-US" sz="2400" dirty="0">
                <a:latin typeface="Calibri" panose="020F0502020204030204" pitchFamily="34" charset="0"/>
                <a:ea typeface="Calibri" panose="020F0502020204030204" pitchFamily="34" charset="0"/>
                <a:cs typeface="Calibri" panose="020F0502020204030204" pitchFamily="34" charset="0"/>
              </a:rPr>
              <a:t> that contains data related to employees, departments, job roles, salaries, qualifications, leaves, and payroll. The data is organized across multiple related tables to maintain employee information in a structured way. The project uses </a:t>
            </a:r>
            <a:r>
              <a:rPr lang="en-US" sz="2400" b="1" dirty="0">
                <a:latin typeface="Calibri" panose="020F0502020204030204" pitchFamily="34" charset="0"/>
                <a:ea typeface="Calibri" panose="020F0502020204030204" pitchFamily="34" charset="0"/>
                <a:cs typeface="Calibri" panose="020F0502020204030204" pitchFamily="34" charset="0"/>
              </a:rPr>
              <a:t>SQL</a:t>
            </a:r>
            <a:r>
              <a:rPr lang="en-US" sz="2400" dirty="0">
                <a:latin typeface="Calibri" panose="020F0502020204030204" pitchFamily="34" charset="0"/>
                <a:ea typeface="Calibri" panose="020F0502020204030204" pitchFamily="34" charset="0"/>
                <a:cs typeface="Calibri" panose="020F0502020204030204" pitchFamily="34" charset="0"/>
              </a:rPr>
              <a:t> to manage, analyze, and extract useful information from this data. It focuses on understanding employee distribution across departments and different job roles. It also analyzes salary ranges, payroll, bonuses, employee qualifications, and leave patterns. The project helps identify areas such as departments with more employees, higher salary allocations, and employees with more qualifications or leaves. Overall, the project demonstrates how SQL can be used to convert employee data into meaningful insights for better management and decision-making.</a:t>
            </a:r>
          </a:p>
        </p:txBody>
      </p:sp>
    </p:spTree>
    <p:extLst>
      <p:ext uri="{BB962C8B-B14F-4D97-AF65-F5344CB8AC3E}">
        <p14:creationId xmlns:p14="http://schemas.microsoft.com/office/powerpoint/2010/main" val="2274356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DA0D85E-987F-FC4C-C7AA-19092E8EE465}"/>
              </a:ext>
            </a:extLst>
          </p:cNvPr>
          <p:cNvGraphicFramePr>
            <a:graphicFrameLocks noGrp="1"/>
          </p:cNvGraphicFramePr>
          <p:nvPr>
            <p:extLst>
              <p:ext uri="{D42A27DB-BD31-4B8C-83A1-F6EECF244321}">
                <p14:modId xmlns:p14="http://schemas.microsoft.com/office/powerpoint/2010/main" val="3109366713"/>
              </p:ext>
            </p:extLst>
          </p:nvPr>
        </p:nvGraphicFramePr>
        <p:xfrm>
          <a:off x="2196548" y="924338"/>
          <a:ext cx="7911549" cy="5357925"/>
        </p:xfrm>
        <a:graphic>
          <a:graphicData uri="http://schemas.openxmlformats.org/drawingml/2006/table">
            <a:tbl>
              <a:tblPr firstRow="1" bandRow="1">
                <a:tableStyleId>{073A0DAA-6AF3-43AB-8588-CEC1D06C72B9}</a:tableStyleId>
              </a:tblPr>
              <a:tblGrid>
                <a:gridCol w="2637183">
                  <a:extLst>
                    <a:ext uri="{9D8B030D-6E8A-4147-A177-3AD203B41FA5}">
                      <a16:colId xmlns:a16="http://schemas.microsoft.com/office/drawing/2014/main" val="3834029052"/>
                    </a:ext>
                  </a:extLst>
                </a:gridCol>
                <a:gridCol w="2637183">
                  <a:extLst>
                    <a:ext uri="{9D8B030D-6E8A-4147-A177-3AD203B41FA5}">
                      <a16:colId xmlns:a16="http://schemas.microsoft.com/office/drawing/2014/main" val="545731013"/>
                    </a:ext>
                  </a:extLst>
                </a:gridCol>
                <a:gridCol w="2637183">
                  <a:extLst>
                    <a:ext uri="{9D8B030D-6E8A-4147-A177-3AD203B41FA5}">
                      <a16:colId xmlns:a16="http://schemas.microsoft.com/office/drawing/2014/main" val="1364999145"/>
                    </a:ext>
                  </a:extLst>
                </a:gridCol>
              </a:tblGrid>
              <a:tr h="357195">
                <a:tc>
                  <a:txBody>
                    <a:bodyPr/>
                    <a:lstStyle/>
                    <a:p>
                      <a:r>
                        <a:rPr lang="en-US" dirty="0"/>
                        <a:t>Table Name</a:t>
                      </a:r>
                    </a:p>
                  </a:txBody>
                  <a:tcPr/>
                </a:tc>
                <a:tc>
                  <a:txBody>
                    <a:bodyPr/>
                    <a:lstStyle/>
                    <a:p>
                      <a:r>
                        <a:rPr lang="en-US" dirty="0"/>
                        <a:t>Column Name</a:t>
                      </a:r>
                    </a:p>
                  </a:txBody>
                  <a:tcPr/>
                </a:tc>
                <a:tc>
                  <a:txBody>
                    <a:bodyPr/>
                    <a:lstStyle/>
                    <a:p>
                      <a:r>
                        <a:rPr lang="en-US" dirty="0"/>
                        <a:t>Data Type</a:t>
                      </a:r>
                    </a:p>
                  </a:txBody>
                  <a:tcPr/>
                </a:tc>
                <a:extLst>
                  <a:ext uri="{0D108BD9-81ED-4DB2-BD59-A6C34878D82A}">
                    <a16:rowId xmlns:a16="http://schemas.microsoft.com/office/drawing/2014/main" val="3776678326"/>
                  </a:ext>
                </a:extLst>
              </a:tr>
              <a:tr h="357195">
                <a:tc>
                  <a:txBody>
                    <a:bodyPr/>
                    <a:lstStyle/>
                    <a:p>
                      <a:r>
                        <a:rPr lang="en-US" dirty="0"/>
                        <a:t>JobDepartment</a:t>
                      </a:r>
                    </a:p>
                  </a:txBody>
                  <a:tcPr/>
                </a:tc>
                <a:tc>
                  <a:txBody>
                    <a:bodyPr/>
                    <a:lstStyle/>
                    <a:p>
                      <a:r>
                        <a:rPr lang="en-US" dirty="0" err="1"/>
                        <a:t>Job_ID</a:t>
                      </a:r>
                      <a:endParaRPr lang="en-US" dirty="0"/>
                    </a:p>
                  </a:txBody>
                  <a:tcPr/>
                </a:tc>
                <a:tc>
                  <a:txBody>
                    <a:bodyPr/>
                    <a:lstStyle/>
                    <a:p>
                      <a:r>
                        <a:rPr lang="en-US" dirty="0"/>
                        <a:t>INT</a:t>
                      </a:r>
                    </a:p>
                  </a:txBody>
                  <a:tcPr/>
                </a:tc>
                <a:extLst>
                  <a:ext uri="{0D108BD9-81ED-4DB2-BD59-A6C34878D82A}">
                    <a16:rowId xmlns:a16="http://schemas.microsoft.com/office/drawing/2014/main" val="3018417667"/>
                  </a:ext>
                </a:extLst>
              </a:tr>
              <a:tr h="357195">
                <a:tc>
                  <a:txBody>
                    <a:bodyPr/>
                    <a:lstStyle/>
                    <a:p>
                      <a:r>
                        <a:rPr lang="en-US" dirty="0"/>
                        <a:t>JobDepartment</a:t>
                      </a:r>
                    </a:p>
                  </a:txBody>
                  <a:tcPr/>
                </a:tc>
                <a:tc>
                  <a:txBody>
                    <a:bodyPr/>
                    <a:lstStyle/>
                    <a:p>
                      <a:r>
                        <a:rPr lang="en-US" dirty="0" err="1"/>
                        <a:t>jobdept</a:t>
                      </a:r>
                      <a:endParaRPr lang="en-US" dirty="0"/>
                    </a:p>
                  </a:txBody>
                  <a:tcPr/>
                </a:tc>
                <a:tc>
                  <a:txBody>
                    <a:bodyPr/>
                    <a:lstStyle/>
                    <a:p>
                      <a:r>
                        <a:rPr lang="en-US" dirty="0"/>
                        <a:t>VARCHAR(50)</a:t>
                      </a:r>
                    </a:p>
                  </a:txBody>
                  <a:tcPr/>
                </a:tc>
                <a:extLst>
                  <a:ext uri="{0D108BD9-81ED-4DB2-BD59-A6C34878D82A}">
                    <a16:rowId xmlns:a16="http://schemas.microsoft.com/office/drawing/2014/main" val="923657015"/>
                  </a:ext>
                </a:extLst>
              </a:tr>
              <a:tr h="357195">
                <a:tc>
                  <a:txBody>
                    <a:bodyPr/>
                    <a:lstStyle/>
                    <a:p>
                      <a:r>
                        <a:rPr lang="en-US" dirty="0"/>
                        <a:t>JobDepartment</a:t>
                      </a:r>
                    </a:p>
                  </a:txBody>
                  <a:tcPr/>
                </a:tc>
                <a:tc>
                  <a:txBody>
                    <a:bodyPr/>
                    <a:lstStyle/>
                    <a:p>
                      <a:r>
                        <a:rPr lang="en-US" dirty="0"/>
                        <a:t>name</a:t>
                      </a:r>
                    </a:p>
                  </a:txBody>
                  <a:tcPr/>
                </a:tc>
                <a:tc>
                  <a:txBody>
                    <a:bodyPr/>
                    <a:lstStyle/>
                    <a:p>
                      <a:r>
                        <a:rPr lang="en-US" dirty="0"/>
                        <a:t>VARCHAR(100)</a:t>
                      </a:r>
                    </a:p>
                  </a:txBody>
                  <a:tcPr/>
                </a:tc>
                <a:extLst>
                  <a:ext uri="{0D108BD9-81ED-4DB2-BD59-A6C34878D82A}">
                    <a16:rowId xmlns:a16="http://schemas.microsoft.com/office/drawing/2014/main" val="4207260979"/>
                  </a:ext>
                </a:extLst>
              </a:tr>
              <a:tr h="357195">
                <a:tc>
                  <a:txBody>
                    <a:bodyPr/>
                    <a:lstStyle/>
                    <a:p>
                      <a:r>
                        <a:rPr lang="en-US" dirty="0"/>
                        <a:t>JobDepartment</a:t>
                      </a:r>
                    </a:p>
                  </a:txBody>
                  <a:tcPr/>
                </a:tc>
                <a:tc>
                  <a:txBody>
                    <a:bodyPr/>
                    <a:lstStyle/>
                    <a:p>
                      <a:r>
                        <a:rPr lang="en-US" dirty="0"/>
                        <a:t>description</a:t>
                      </a:r>
                    </a:p>
                  </a:txBody>
                  <a:tcPr/>
                </a:tc>
                <a:tc>
                  <a:txBody>
                    <a:bodyPr/>
                    <a:lstStyle/>
                    <a:p>
                      <a:r>
                        <a:rPr lang="en-US" dirty="0"/>
                        <a:t>TEXT</a:t>
                      </a:r>
                    </a:p>
                  </a:txBody>
                  <a:tcPr/>
                </a:tc>
                <a:extLst>
                  <a:ext uri="{0D108BD9-81ED-4DB2-BD59-A6C34878D82A}">
                    <a16:rowId xmlns:a16="http://schemas.microsoft.com/office/drawing/2014/main" val="3232743960"/>
                  </a:ext>
                </a:extLst>
              </a:tr>
              <a:tr h="357195">
                <a:tc>
                  <a:txBody>
                    <a:bodyPr/>
                    <a:lstStyle/>
                    <a:p>
                      <a:r>
                        <a:rPr lang="en-US" dirty="0"/>
                        <a:t>JobDepartment</a:t>
                      </a:r>
                    </a:p>
                  </a:txBody>
                  <a:tcPr/>
                </a:tc>
                <a:tc>
                  <a:txBody>
                    <a:bodyPr/>
                    <a:lstStyle/>
                    <a:p>
                      <a:r>
                        <a:rPr lang="en-US" dirty="0" err="1"/>
                        <a:t>salaryrange</a:t>
                      </a:r>
                      <a:endParaRPr lang="en-US" dirty="0"/>
                    </a:p>
                  </a:txBody>
                  <a:tcPr/>
                </a:tc>
                <a:tc>
                  <a:txBody>
                    <a:bodyPr/>
                    <a:lstStyle/>
                    <a:p>
                      <a:r>
                        <a:rPr lang="en-US" dirty="0"/>
                        <a:t>VARCHAR(50)</a:t>
                      </a:r>
                    </a:p>
                  </a:txBody>
                  <a:tcPr/>
                </a:tc>
                <a:extLst>
                  <a:ext uri="{0D108BD9-81ED-4DB2-BD59-A6C34878D82A}">
                    <a16:rowId xmlns:a16="http://schemas.microsoft.com/office/drawing/2014/main" val="2074451076"/>
                  </a:ext>
                </a:extLst>
              </a:tr>
              <a:tr h="357195">
                <a:tc>
                  <a:txBody>
                    <a:bodyPr/>
                    <a:lstStyle/>
                    <a:p>
                      <a:r>
                        <a:rPr lang="en-US" dirty="0"/>
                        <a:t>SalaryBonus</a:t>
                      </a:r>
                    </a:p>
                  </a:txBody>
                  <a:tcPr/>
                </a:tc>
                <a:tc>
                  <a:txBody>
                    <a:bodyPr/>
                    <a:lstStyle/>
                    <a:p>
                      <a:r>
                        <a:rPr lang="en-US" dirty="0" err="1"/>
                        <a:t>salary_ID</a:t>
                      </a:r>
                      <a:endParaRPr lang="en-US" dirty="0"/>
                    </a:p>
                  </a:txBody>
                  <a:tcPr/>
                </a:tc>
                <a:tc>
                  <a:txBody>
                    <a:bodyPr/>
                    <a:lstStyle/>
                    <a:p>
                      <a:r>
                        <a:rPr lang="en-US" dirty="0"/>
                        <a:t>INT</a:t>
                      </a:r>
                    </a:p>
                  </a:txBody>
                  <a:tcPr/>
                </a:tc>
                <a:extLst>
                  <a:ext uri="{0D108BD9-81ED-4DB2-BD59-A6C34878D82A}">
                    <a16:rowId xmlns:a16="http://schemas.microsoft.com/office/drawing/2014/main" val="1462096944"/>
                  </a:ext>
                </a:extLst>
              </a:tr>
              <a:tr h="357195">
                <a:tc>
                  <a:txBody>
                    <a:bodyPr/>
                    <a:lstStyle/>
                    <a:p>
                      <a:r>
                        <a:rPr lang="en-US" dirty="0"/>
                        <a:t>SalaryBonus</a:t>
                      </a:r>
                    </a:p>
                  </a:txBody>
                  <a:tcPr/>
                </a:tc>
                <a:tc>
                  <a:txBody>
                    <a:bodyPr/>
                    <a:lstStyle/>
                    <a:p>
                      <a:r>
                        <a:rPr lang="en-US" dirty="0" err="1"/>
                        <a:t>Job_ID</a:t>
                      </a:r>
                      <a:endParaRPr lang="en-US" dirty="0"/>
                    </a:p>
                  </a:txBody>
                  <a:tcPr/>
                </a:tc>
                <a:tc>
                  <a:txBody>
                    <a:bodyPr/>
                    <a:lstStyle/>
                    <a:p>
                      <a:r>
                        <a:rPr lang="en-US" dirty="0"/>
                        <a:t>INT</a:t>
                      </a:r>
                    </a:p>
                  </a:txBody>
                  <a:tcPr/>
                </a:tc>
                <a:extLst>
                  <a:ext uri="{0D108BD9-81ED-4DB2-BD59-A6C34878D82A}">
                    <a16:rowId xmlns:a16="http://schemas.microsoft.com/office/drawing/2014/main" val="798715434"/>
                  </a:ext>
                </a:extLst>
              </a:tr>
              <a:tr h="357195">
                <a:tc>
                  <a:txBody>
                    <a:bodyPr/>
                    <a:lstStyle/>
                    <a:p>
                      <a:r>
                        <a:rPr lang="en-US" dirty="0"/>
                        <a:t>SalaryBonus</a:t>
                      </a:r>
                    </a:p>
                  </a:txBody>
                  <a:tcPr/>
                </a:tc>
                <a:tc>
                  <a:txBody>
                    <a:bodyPr/>
                    <a:lstStyle/>
                    <a:p>
                      <a:r>
                        <a:rPr lang="en-US" dirty="0"/>
                        <a:t>amount</a:t>
                      </a:r>
                    </a:p>
                  </a:txBody>
                  <a:tcPr/>
                </a:tc>
                <a:tc>
                  <a:txBody>
                    <a:bodyPr/>
                    <a:lstStyle/>
                    <a:p>
                      <a:r>
                        <a:rPr lang="en-US" dirty="0"/>
                        <a:t>DECIMAL(10,2)</a:t>
                      </a:r>
                    </a:p>
                  </a:txBody>
                  <a:tcPr/>
                </a:tc>
                <a:extLst>
                  <a:ext uri="{0D108BD9-81ED-4DB2-BD59-A6C34878D82A}">
                    <a16:rowId xmlns:a16="http://schemas.microsoft.com/office/drawing/2014/main" val="789633114"/>
                  </a:ext>
                </a:extLst>
              </a:tr>
              <a:tr h="357195">
                <a:tc>
                  <a:txBody>
                    <a:bodyPr/>
                    <a:lstStyle/>
                    <a:p>
                      <a:r>
                        <a:rPr lang="en-US" dirty="0"/>
                        <a:t>SalaryBonus</a:t>
                      </a:r>
                    </a:p>
                  </a:txBody>
                  <a:tcPr/>
                </a:tc>
                <a:tc>
                  <a:txBody>
                    <a:bodyPr/>
                    <a:lstStyle/>
                    <a:p>
                      <a:r>
                        <a:rPr lang="en-US" dirty="0"/>
                        <a:t>annual</a:t>
                      </a:r>
                    </a:p>
                  </a:txBody>
                  <a:tcPr/>
                </a:tc>
                <a:tc>
                  <a:txBody>
                    <a:bodyPr/>
                    <a:lstStyle/>
                    <a:p>
                      <a:r>
                        <a:rPr lang="en-US" dirty="0"/>
                        <a:t>DECIMAL(10,2)</a:t>
                      </a:r>
                    </a:p>
                  </a:txBody>
                  <a:tcPr/>
                </a:tc>
                <a:extLst>
                  <a:ext uri="{0D108BD9-81ED-4DB2-BD59-A6C34878D82A}">
                    <a16:rowId xmlns:a16="http://schemas.microsoft.com/office/drawing/2014/main" val="2224965263"/>
                  </a:ext>
                </a:extLst>
              </a:tr>
              <a:tr h="357195">
                <a:tc>
                  <a:txBody>
                    <a:bodyPr/>
                    <a:lstStyle/>
                    <a:p>
                      <a:r>
                        <a:rPr lang="en-US" dirty="0"/>
                        <a:t>SalaryBonus</a:t>
                      </a:r>
                    </a:p>
                  </a:txBody>
                  <a:tcPr/>
                </a:tc>
                <a:tc>
                  <a:txBody>
                    <a:bodyPr/>
                    <a:lstStyle/>
                    <a:p>
                      <a:r>
                        <a:rPr lang="en-US" dirty="0"/>
                        <a:t>bonus</a:t>
                      </a:r>
                    </a:p>
                  </a:txBody>
                  <a:tcPr/>
                </a:tc>
                <a:tc>
                  <a:txBody>
                    <a:bodyPr/>
                    <a:lstStyle/>
                    <a:p>
                      <a:r>
                        <a:rPr lang="en-US" dirty="0"/>
                        <a:t>DECIMAL(10,2)</a:t>
                      </a:r>
                    </a:p>
                  </a:txBody>
                  <a:tcPr/>
                </a:tc>
                <a:extLst>
                  <a:ext uri="{0D108BD9-81ED-4DB2-BD59-A6C34878D82A}">
                    <a16:rowId xmlns:a16="http://schemas.microsoft.com/office/drawing/2014/main" val="1789341063"/>
                  </a:ext>
                </a:extLst>
              </a:tr>
              <a:tr h="357195">
                <a:tc>
                  <a:txBody>
                    <a:bodyPr/>
                    <a:lstStyle/>
                    <a:p>
                      <a:r>
                        <a:rPr lang="en-US" dirty="0"/>
                        <a:t>Employee</a:t>
                      </a:r>
                    </a:p>
                  </a:txBody>
                  <a:tcPr/>
                </a:tc>
                <a:tc>
                  <a:txBody>
                    <a:bodyPr/>
                    <a:lstStyle/>
                    <a:p>
                      <a:r>
                        <a:rPr lang="en-US" dirty="0"/>
                        <a:t>emp_ID</a:t>
                      </a:r>
                    </a:p>
                  </a:txBody>
                  <a:tcPr/>
                </a:tc>
                <a:tc>
                  <a:txBody>
                    <a:bodyPr/>
                    <a:lstStyle/>
                    <a:p>
                      <a:r>
                        <a:rPr lang="en-US" dirty="0"/>
                        <a:t>INT</a:t>
                      </a:r>
                    </a:p>
                  </a:txBody>
                  <a:tcPr/>
                </a:tc>
                <a:extLst>
                  <a:ext uri="{0D108BD9-81ED-4DB2-BD59-A6C34878D82A}">
                    <a16:rowId xmlns:a16="http://schemas.microsoft.com/office/drawing/2014/main" val="3448240874"/>
                  </a:ext>
                </a:extLst>
              </a:tr>
              <a:tr h="357195">
                <a:tc>
                  <a:txBody>
                    <a:bodyPr/>
                    <a:lstStyle/>
                    <a:p>
                      <a:r>
                        <a:rPr lang="en-US" dirty="0"/>
                        <a:t>Employee</a:t>
                      </a:r>
                    </a:p>
                  </a:txBody>
                  <a:tcPr/>
                </a:tc>
                <a:tc>
                  <a:txBody>
                    <a:bodyPr/>
                    <a:lstStyle/>
                    <a:p>
                      <a:r>
                        <a:rPr lang="en-US" dirty="0" err="1"/>
                        <a:t>firstname</a:t>
                      </a:r>
                      <a:endParaRPr lang="en-US" dirty="0"/>
                    </a:p>
                  </a:txBody>
                  <a:tcPr/>
                </a:tc>
                <a:tc>
                  <a:txBody>
                    <a:bodyPr/>
                    <a:lstStyle/>
                    <a:p>
                      <a:r>
                        <a:rPr lang="en-US" dirty="0"/>
                        <a:t>VARCHAR(50)</a:t>
                      </a:r>
                    </a:p>
                  </a:txBody>
                  <a:tcPr/>
                </a:tc>
                <a:extLst>
                  <a:ext uri="{0D108BD9-81ED-4DB2-BD59-A6C34878D82A}">
                    <a16:rowId xmlns:a16="http://schemas.microsoft.com/office/drawing/2014/main" val="3433520012"/>
                  </a:ext>
                </a:extLst>
              </a:tr>
              <a:tr h="357195">
                <a:tc>
                  <a:txBody>
                    <a:bodyPr/>
                    <a:lstStyle/>
                    <a:p>
                      <a:r>
                        <a:rPr lang="en-US" dirty="0"/>
                        <a:t>Employee</a:t>
                      </a:r>
                    </a:p>
                  </a:txBody>
                  <a:tcPr/>
                </a:tc>
                <a:tc>
                  <a:txBody>
                    <a:bodyPr/>
                    <a:lstStyle/>
                    <a:p>
                      <a:r>
                        <a:rPr lang="en-US" dirty="0" err="1"/>
                        <a:t>lastname</a:t>
                      </a:r>
                      <a:endParaRPr lang="en-US" dirty="0"/>
                    </a:p>
                  </a:txBody>
                  <a:tcPr/>
                </a:tc>
                <a:tc>
                  <a:txBody>
                    <a:bodyPr/>
                    <a:lstStyle/>
                    <a:p>
                      <a:r>
                        <a:rPr lang="en-US" dirty="0"/>
                        <a:t>VARCHAR(50)</a:t>
                      </a:r>
                    </a:p>
                  </a:txBody>
                  <a:tcPr/>
                </a:tc>
                <a:extLst>
                  <a:ext uri="{0D108BD9-81ED-4DB2-BD59-A6C34878D82A}">
                    <a16:rowId xmlns:a16="http://schemas.microsoft.com/office/drawing/2014/main" val="2045741490"/>
                  </a:ext>
                </a:extLst>
              </a:tr>
              <a:tr h="357195">
                <a:tc>
                  <a:txBody>
                    <a:bodyPr/>
                    <a:lstStyle/>
                    <a:p>
                      <a:r>
                        <a:rPr lang="en-US" dirty="0"/>
                        <a:t>Employee</a:t>
                      </a:r>
                    </a:p>
                  </a:txBody>
                  <a:tcPr/>
                </a:tc>
                <a:tc>
                  <a:txBody>
                    <a:bodyPr/>
                    <a:lstStyle/>
                    <a:p>
                      <a:r>
                        <a:rPr lang="en-US" dirty="0"/>
                        <a:t>gender</a:t>
                      </a:r>
                    </a:p>
                  </a:txBody>
                  <a:tcPr/>
                </a:tc>
                <a:tc>
                  <a:txBody>
                    <a:bodyPr/>
                    <a:lstStyle/>
                    <a:p>
                      <a:r>
                        <a:rPr lang="en-US" dirty="0"/>
                        <a:t>VARCHAR(50)</a:t>
                      </a:r>
                    </a:p>
                  </a:txBody>
                  <a:tcPr/>
                </a:tc>
                <a:extLst>
                  <a:ext uri="{0D108BD9-81ED-4DB2-BD59-A6C34878D82A}">
                    <a16:rowId xmlns:a16="http://schemas.microsoft.com/office/drawing/2014/main" val="794302979"/>
                  </a:ext>
                </a:extLst>
              </a:tr>
            </a:tbl>
          </a:graphicData>
        </a:graphic>
      </p:graphicFrame>
      <p:sp>
        <p:nvSpPr>
          <p:cNvPr id="5" name="TextBox 4">
            <a:extLst>
              <a:ext uri="{FF2B5EF4-FFF2-40B4-BE49-F238E27FC236}">
                <a16:creationId xmlns:a16="http://schemas.microsoft.com/office/drawing/2014/main" id="{15046228-46EF-1197-85A8-F7EB8482391E}"/>
              </a:ext>
            </a:extLst>
          </p:cNvPr>
          <p:cNvSpPr txBox="1"/>
          <p:nvPr/>
        </p:nvSpPr>
        <p:spPr>
          <a:xfrm>
            <a:off x="626166" y="178905"/>
            <a:ext cx="4094921" cy="584775"/>
          </a:xfrm>
          <a:prstGeom prst="rect">
            <a:avLst/>
          </a:prstGeom>
          <a:noFill/>
        </p:spPr>
        <p:txBody>
          <a:bodyPr wrap="square" rtlCol="0">
            <a:spAutoFit/>
          </a:bodyPr>
          <a:lstStyle/>
          <a:p>
            <a:r>
              <a:rPr lang="en-US" sz="3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Data Description : </a:t>
            </a:r>
          </a:p>
        </p:txBody>
      </p:sp>
    </p:spTree>
    <p:extLst>
      <p:ext uri="{BB962C8B-B14F-4D97-AF65-F5344CB8AC3E}">
        <p14:creationId xmlns:p14="http://schemas.microsoft.com/office/powerpoint/2010/main" val="324972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53E60A7-88A2-DB97-3D6B-43F49B365C32}"/>
              </a:ext>
            </a:extLst>
          </p:cNvPr>
          <p:cNvGraphicFramePr>
            <a:graphicFrameLocks noGrp="1"/>
          </p:cNvGraphicFramePr>
          <p:nvPr>
            <p:extLst>
              <p:ext uri="{D42A27DB-BD31-4B8C-83A1-F6EECF244321}">
                <p14:modId xmlns:p14="http://schemas.microsoft.com/office/powerpoint/2010/main" val="2302086993"/>
              </p:ext>
            </p:extLst>
          </p:nvPr>
        </p:nvGraphicFramePr>
        <p:xfrm>
          <a:off x="2027582" y="884583"/>
          <a:ext cx="7871791" cy="4600992"/>
        </p:xfrm>
        <a:graphic>
          <a:graphicData uri="http://schemas.openxmlformats.org/drawingml/2006/table">
            <a:tbl>
              <a:tblPr firstRow="1" bandRow="1">
                <a:tableStyleId>{073A0DAA-6AF3-43AB-8588-CEC1D06C72B9}</a:tableStyleId>
              </a:tblPr>
              <a:tblGrid>
                <a:gridCol w="2127825">
                  <a:extLst>
                    <a:ext uri="{9D8B030D-6E8A-4147-A177-3AD203B41FA5}">
                      <a16:colId xmlns:a16="http://schemas.microsoft.com/office/drawing/2014/main" val="4134051592"/>
                    </a:ext>
                  </a:extLst>
                </a:gridCol>
                <a:gridCol w="2871983">
                  <a:extLst>
                    <a:ext uri="{9D8B030D-6E8A-4147-A177-3AD203B41FA5}">
                      <a16:colId xmlns:a16="http://schemas.microsoft.com/office/drawing/2014/main" val="3211480849"/>
                    </a:ext>
                  </a:extLst>
                </a:gridCol>
                <a:gridCol w="2871983">
                  <a:extLst>
                    <a:ext uri="{9D8B030D-6E8A-4147-A177-3AD203B41FA5}">
                      <a16:colId xmlns:a16="http://schemas.microsoft.com/office/drawing/2014/main" val="1473210993"/>
                    </a:ext>
                  </a:extLst>
                </a:gridCol>
              </a:tblGrid>
              <a:tr h="418272">
                <a:tc>
                  <a:txBody>
                    <a:bodyPr/>
                    <a:lstStyle/>
                    <a:p>
                      <a:r>
                        <a:rPr lang="en-US" dirty="0"/>
                        <a:t>Table Name</a:t>
                      </a:r>
                    </a:p>
                  </a:txBody>
                  <a:tcPr/>
                </a:tc>
                <a:tc>
                  <a:txBody>
                    <a:bodyPr/>
                    <a:lstStyle/>
                    <a:p>
                      <a:r>
                        <a:rPr lang="en-US" dirty="0"/>
                        <a:t>Column Name</a:t>
                      </a:r>
                    </a:p>
                  </a:txBody>
                  <a:tcPr/>
                </a:tc>
                <a:tc>
                  <a:txBody>
                    <a:bodyPr/>
                    <a:lstStyle/>
                    <a:p>
                      <a:r>
                        <a:rPr lang="en-US" dirty="0"/>
                        <a:t>Data Type</a:t>
                      </a:r>
                    </a:p>
                  </a:txBody>
                  <a:tcPr/>
                </a:tc>
                <a:extLst>
                  <a:ext uri="{0D108BD9-81ED-4DB2-BD59-A6C34878D82A}">
                    <a16:rowId xmlns:a16="http://schemas.microsoft.com/office/drawing/2014/main" val="3682968917"/>
                  </a:ext>
                </a:extLst>
              </a:tr>
              <a:tr h="418272">
                <a:tc>
                  <a:txBody>
                    <a:bodyPr/>
                    <a:lstStyle/>
                    <a:p>
                      <a:r>
                        <a:rPr lang="en-US" dirty="0"/>
                        <a:t>Employee</a:t>
                      </a:r>
                    </a:p>
                  </a:txBody>
                  <a:tcPr/>
                </a:tc>
                <a:tc>
                  <a:txBody>
                    <a:bodyPr/>
                    <a:lstStyle/>
                    <a:p>
                      <a:r>
                        <a:rPr lang="en-US" dirty="0"/>
                        <a:t>age</a:t>
                      </a:r>
                    </a:p>
                  </a:txBody>
                  <a:tcPr/>
                </a:tc>
                <a:tc>
                  <a:txBody>
                    <a:bodyPr/>
                    <a:lstStyle/>
                    <a:p>
                      <a:r>
                        <a:rPr lang="en-US" dirty="0"/>
                        <a:t>INT</a:t>
                      </a:r>
                    </a:p>
                  </a:txBody>
                  <a:tcPr/>
                </a:tc>
                <a:extLst>
                  <a:ext uri="{0D108BD9-81ED-4DB2-BD59-A6C34878D82A}">
                    <a16:rowId xmlns:a16="http://schemas.microsoft.com/office/drawing/2014/main" val="114222934"/>
                  </a:ext>
                </a:extLst>
              </a:tr>
              <a:tr h="418272">
                <a:tc>
                  <a:txBody>
                    <a:bodyPr/>
                    <a:lstStyle/>
                    <a:p>
                      <a:r>
                        <a:rPr lang="en-US" dirty="0"/>
                        <a:t>Employee</a:t>
                      </a:r>
                    </a:p>
                  </a:txBody>
                  <a:tcPr/>
                </a:tc>
                <a:tc>
                  <a:txBody>
                    <a:bodyPr/>
                    <a:lstStyle/>
                    <a:p>
                      <a:r>
                        <a:rPr lang="en-US" dirty="0" err="1"/>
                        <a:t>contact_add</a:t>
                      </a:r>
                      <a:endParaRPr lang="en-US" dirty="0"/>
                    </a:p>
                  </a:txBody>
                  <a:tcPr/>
                </a:tc>
                <a:tc>
                  <a:txBody>
                    <a:bodyPr/>
                    <a:lstStyle/>
                    <a:p>
                      <a:r>
                        <a:rPr lang="en-US" dirty="0"/>
                        <a:t>VARCHAR(100)</a:t>
                      </a:r>
                    </a:p>
                  </a:txBody>
                  <a:tcPr/>
                </a:tc>
                <a:extLst>
                  <a:ext uri="{0D108BD9-81ED-4DB2-BD59-A6C34878D82A}">
                    <a16:rowId xmlns:a16="http://schemas.microsoft.com/office/drawing/2014/main" val="745492436"/>
                  </a:ext>
                </a:extLst>
              </a:tr>
              <a:tr h="418272">
                <a:tc>
                  <a:txBody>
                    <a:bodyPr/>
                    <a:lstStyle/>
                    <a:p>
                      <a:r>
                        <a:rPr lang="en-US" dirty="0"/>
                        <a:t>Employee</a:t>
                      </a:r>
                    </a:p>
                  </a:txBody>
                  <a:tcPr/>
                </a:tc>
                <a:tc>
                  <a:txBody>
                    <a:bodyPr/>
                    <a:lstStyle/>
                    <a:p>
                      <a:r>
                        <a:rPr lang="en-US" dirty="0" err="1"/>
                        <a:t>emp_email</a:t>
                      </a:r>
                      <a:endParaRPr lang="en-US" dirty="0"/>
                    </a:p>
                  </a:txBody>
                  <a:tcPr/>
                </a:tc>
                <a:tc>
                  <a:txBody>
                    <a:bodyPr/>
                    <a:lstStyle/>
                    <a:p>
                      <a:r>
                        <a:rPr lang="en-US" dirty="0"/>
                        <a:t>VARCHAR(100)</a:t>
                      </a:r>
                    </a:p>
                  </a:txBody>
                  <a:tcPr/>
                </a:tc>
                <a:extLst>
                  <a:ext uri="{0D108BD9-81ED-4DB2-BD59-A6C34878D82A}">
                    <a16:rowId xmlns:a16="http://schemas.microsoft.com/office/drawing/2014/main" val="2548574413"/>
                  </a:ext>
                </a:extLst>
              </a:tr>
              <a:tr h="418272">
                <a:tc>
                  <a:txBody>
                    <a:bodyPr/>
                    <a:lstStyle/>
                    <a:p>
                      <a:r>
                        <a:rPr lang="en-US" dirty="0"/>
                        <a:t>Employee</a:t>
                      </a:r>
                    </a:p>
                  </a:txBody>
                  <a:tcPr/>
                </a:tc>
                <a:tc>
                  <a:txBody>
                    <a:bodyPr/>
                    <a:lstStyle/>
                    <a:p>
                      <a:r>
                        <a:rPr lang="en-US" dirty="0" err="1"/>
                        <a:t>emp_pass</a:t>
                      </a:r>
                      <a:endParaRPr lang="en-US" dirty="0"/>
                    </a:p>
                  </a:txBody>
                  <a:tcPr/>
                </a:tc>
                <a:tc>
                  <a:txBody>
                    <a:bodyPr/>
                    <a:lstStyle/>
                    <a:p>
                      <a:r>
                        <a:rPr lang="en-US" dirty="0"/>
                        <a:t>VARCHAR(100)</a:t>
                      </a:r>
                    </a:p>
                  </a:txBody>
                  <a:tcPr/>
                </a:tc>
                <a:extLst>
                  <a:ext uri="{0D108BD9-81ED-4DB2-BD59-A6C34878D82A}">
                    <a16:rowId xmlns:a16="http://schemas.microsoft.com/office/drawing/2014/main" val="3166457255"/>
                  </a:ext>
                </a:extLst>
              </a:tr>
              <a:tr h="418272">
                <a:tc>
                  <a:txBody>
                    <a:bodyPr/>
                    <a:lstStyle/>
                    <a:p>
                      <a:r>
                        <a:rPr lang="en-US" dirty="0"/>
                        <a:t>Employee</a:t>
                      </a:r>
                    </a:p>
                  </a:txBody>
                  <a:tcPr/>
                </a:tc>
                <a:tc>
                  <a:txBody>
                    <a:bodyPr/>
                    <a:lstStyle/>
                    <a:p>
                      <a:r>
                        <a:rPr lang="en-US" dirty="0" err="1"/>
                        <a:t>Job_ID</a:t>
                      </a:r>
                      <a:endParaRPr lang="en-US" dirty="0"/>
                    </a:p>
                  </a:txBody>
                  <a:tcPr/>
                </a:tc>
                <a:tc>
                  <a:txBody>
                    <a:bodyPr/>
                    <a:lstStyle/>
                    <a:p>
                      <a:r>
                        <a:rPr lang="en-US" dirty="0"/>
                        <a:t>INT</a:t>
                      </a:r>
                    </a:p>
                  </a:txBody>
                  <a:tcPr/>
                </a:tc>
                <a:extLst>
                  <a:ext uri="{0D108BD9-81ED-4DB2-BD59-A6C34878D82A}">
                    <a16:rowId xmlns:a16="http://schemas.microsoft.com/office/drawing/2014/main" val="2711619304"/>
                  </a:ext>
                </a:extLst>
              </a:tr>
              <a:tr h="418272">
                <a:tc>
                  <a:txBody>
                    <a:bodyPr/>
                    <a:lstStyle/>
                    <a:p>
                      <a:r>
                        <a:rPr lang="en-US" dirty="0"/>
                        <a:t>Qualification</a:t>
                      </a:r>
                    </a:p>
                  </a:txBody>
                  <a:tcPr/>
                </a:tc>
                <a:tc>
                  <a:txBody>
                    <a:bodyPr/>
                    <a:lstStyle/>
                    <a:p>
                      <a:r>
                        <a:rPr lang="en-US" dirty="0" err="1"/>
                        <a:t>QualID</a:t>
                      </a:r>
                      <a:endParaRPr lang="en-US" dirty="0"/>
                    </a:p>
                  </a:txBody>
                  <a:tcPr/>
                </a:tc>
                <a:tc>
                  <a:txBody>
                    <a:bodyPr/>
                    <a:lstStyle/>
                    <a:p>
                      <a:r>
                        <a:rPr lang="en-US" dirty="0"/>
                        <a:t>INT</a:t>
                      </a:r>
                    </a:p>
                  </a:txBody>
                  <a:tcPr/>
                </a:tc>
                <a:extLst>
                  <a:ext uri="{0D108BD9-81ED-4DB2-BD59-A6C34878D82A}">
                    <a16:rowId xmlns:a16="http://schemas.microsoft.com/office/drawing/2014/main" val="3269568715"/>
                  </a:ext>
                </a:extLst>
              </a:tr>
              <a:tr h="418272">
                <a:tc>
                  <a:txBody>
                    <a:bodyPr/>
                    <a:lstStyle/>
                    <a:p>
                      <a:r>
                        <a:rPr lang="en-US" dirty="0"/>
                        <a:t>Qualification</a:t>
                      </a:r>
                    </a:p>
                  </a:txBody>
                  <a:tcPr/>
                </a:tc>
                <a:tc>
                  <a:txBody>
                    <a:bodyPr/>
                    <a:lstStyle/>
                    <a:p>
                      <a:r>
                        <a:rPr lang="en-US" dirty="0"/>
                        <a:t>Emp_ID</a:t>
                      </a:r>
                    </a:p>
                  </a:txBody>
                  <a:tcPr/>
                </a:tc>
                <a:tc>
                  <a:txBody>
                    <a:bodyPr/>
                    <a:lstStyle/>
                    <a:p>
                      <a:r>
                        <a:rPr lang="en-US" dirty="0"/>
                        <a:t>INT</a:t>
                      </a:r>
                    </a:p>
                  </a:txBody>
                  <a:tcPr/>
                </a:tc>
                <a:extLst>
                  <a:ext uri="{0D108BD9-81ED-4DB2-BD59-A6C34878D82A}">
                    <a16:rowId xmlns:a16="http://schemas.microsoft.com/office/drawing/2014/main" val="3097712195"/>
                  </a:ext>
                </a:extLst>
              </a:tr>
              <a:tr h="418272">
                <a:tc>
                  <a:txBody>
                    <a:bodyPr/>
                    <a:lstStyle/>
                    <a:p>
                      <a:r>
                        <a:rPr lang="en-US" dirty="0"/>
                        <a:t>Qualification</a:t>
                      </a:r>
                    </a:p>
                  </a:txBody>
                  <a:tcPr/>
                </a:tc>
                <a:tc>
                  <a:txBody>
                    <a:bodyPr/>
                    <a:lstStyle/>
                    <a:p>
                      <a:r>
                        <a:rPr lang="en-US" dirty="0"/>
                        <a:t>Position</a:t>
                      </a:r>
                    </a:p>
                  </a:txBody>
                  <a:tcPr/>
                </a:tc>
                <a:tc>
                  <a:txBody>
                    <a:bodyPr/>
                    <a:lstStyle/>
                    <a:p>
                      <a:r>
                        <a:rPr lang="en-US" dirty="0"/>
                        <a:t>VARCHAR(50)</a:t>
                      </a:r>
                    </a:p>
                  </a:txBody>
                  <a:tcPr/>
                </a:tc>
                <a:extLst>
                  <a:ext uri="{0D108BD9-81ED-4DB2-BD59-A6C34878D82A}">
                    <a16:rowId xmlns:a16="http://schemas.microsoft.com/office/drawing/2014/main" val="901801449"/>
                  </a:ext>
                </a:extLst>
              </a:tr>
              <a:tr h="418272">
                <a:tc>
                  <a:txBody>
                    <a:bodyPr/>
                    <a:lstStyle/>
                    <a:p>
                      <a:r>
                        <a:rPr lang="en-US" dirty="0"/>
                        <a:t>Qualification</a:t>
                      </a:r>
                    </a:p>
                  </a:txBody>
                  <a:tcPr/>
                </a:tc>
                <a:tc>
                  <a:txBody>
                    <a:bodyPr/>
                    <a:lstStyle/>
                    <a:p>
                      <a:r>
                        <a:rPr lang="en-US" dirty="0"/>
                        <a:t>Requirements</a:t>
                      </a:r>
                    </a:p>
                  </a:txBody>
                  <a:tcPr/>
                </a:tc>
                <a:tc>
                  <a:txBody>
                    <a:bodyPr/>
                    <a:lstStyle/>
                    <a:p>
                      <a:r>
                        <a:rPr lang="en-US" dirty="0"/>
                        <a:t>VARCHAR(255)</a:t>
                      </a:r>
                    </a:p>
                  </a:txBody>
                  <a:tcPr/>
                </a:tc>
                <a:extLst>
                  <a:ext uri="{0D108BD9-81ED-4DB2-BD59-A6C34878D82A}">
                    <a16:rowId xmlns:a16="http://schemas.microsoft.com/office/drawing/2014/main" val="2771231696"/>
                  </a:ext>
                </a:extLst>
              </a:tr>
              <a:tr h="418272">
                <a:tc>
                  <a:txBody>
                    <a:bodyPr/>
                    <a:lstStyle/>
                    <a:p>
                      <a:r>
                        <a:rPr lang="en-US" dirty="0"/>
                        <a:t>Qualification</a:t>
                      </a:r>
                    </a:p>
                  </a:txBody>
                  <a:tcPr/>
                </a:tc>
                <a:tc>
                  <a:txBody>
                    <a:bodyPr/>
                    <a:lstStyle/>
                    <a:p>
                      <a:r>
                        <a:rPr lang="en-US" dirty="0" err="1"/>
                        <a:t>Date_In</a:t>
                      </a:r>
                      <a:endParaRPr lang="en-US" dirty="0"/>
                    </a:p>
                  </a:txBody>
                  <a:tcPr/>
                </a:tc>
                <a:tc>
                  <a:txBody>
                    <a:bodyPr/>
                    <a:lstStyle/>
                    <a:p>
                      <a:r>
                        <a:rPr lang="en-US" dirty="0"/>
                        <a:t>DATE</a:t>
                      </a:r>
                    </a:p>
                  </a:txBody>
                  <a:tcPr/>
                </a:tc>
                <a:extLst>
                  <a:ext uri="{0D108BD9-81ED-4DB2-BD59-A6C34878D82A}">
                    <a16:rowId xmlns:a16="http://schemas.microsoft.com/office/drawing/2014/main" val="3666784683"/>
                  </a:ext>
                </a:extLst>
              </a:tr>
            </a:tbl>
          </a:graphicData>
        </a:graphic>
      </p:graphicFrame>
    </p:spTree>
    <p:extLst>
      <p:ext uri="{BB962C8B-B14F-4D97-AF65-F5344CB8AC3E}">
        <p14:creationId xmlns:p14="http://schemas.microsoft.com/office/powerpoint/2010/main" val="50588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C725DD4A-792B-6AB8-5A58-E8B0E79701C1}"/>
              </a:ext>
            </a:extLst>
          </p:cNvPr>
          <p:cNvGraphicFramePr>
            <a:graphicFrameLocks noGrp="1"/>
          </p:cNvGraphicFramePr>
          <p:nvPr>
            <p:extLst>
              <p:ext uri="{D42A27DB-BD31-4B8C-83A1-F6EECF244321}">
                <p14:modId xmlns:p14="http://schemas.microsoft.com/office/powerpoint/2010/main" val="2611045033"/>
              </p:ext>
            </p:extLst>
          </p:nvPr>
        </p:nvGraphicFramePr>
        <p:xfrm>
          <a:off x="1739348" y="1043608"/>
          <a:ext cx="8627165" cy="4899986"/>
        </p:xfrm>
        <a:graphic>
          <a:graphicData uri="http://schemas.openxmlformats.org/drawingml/2006/table">
            <a:tbl>
              <a:tblPr firstRow="1" bandRow="1">
                <a:tableStyleId>{073A0DAA-6AF3-43AB-8588-CEC1D06C72B9}</a:tableStyleId>
              </a:tblPr>
              <a:tblGrid>
                <a:gridCol w="2892967">
                  <a:extLst>
                    <a:ext uri="{9D8B030D-6E8A-4147-A177-3AD203B41FA5}">
                      <a16:colId xmlns:a16="http://schemas.microsoft.com/office/drawing/2014/main" val="123452628"/>
                    </a:ext>
                  </a:extLst>
                </a:gridCol>
                <a:gridCol w="2867099">
                  <a:extLst>
                    <a:ext uri="{9D8B030D-6E8A-4147-A177-3AD203B41FA5}">
                      <a16:colId xmlns:a16="http://schemas.microsoft.com/office/drawing/2014/main" val="1113311263"/>
                    </a:ext>
                  </a:extLst>
                </a:gridCol>
                <a:gridCol w="2867099">
                  <a:extLst>
                    <a:ext uri="{9D8B030D-6E8A-4147-A177-3AD203B41FA5}">
                      <a16:colId xmlns:a16="http://schemas.microsoft.com/office/drawing/2014/main" val="2378408223"/>
                    </a:ext>
                  </a:extLst>
                </a:gridCol>
              </a:tblGrid>
              <a:tr h="376922">
                <a:tc>
                  <a:txBody>
                    <a:bodyPr/>
                    <a:lstStyle/>
                    <a:p>
                      <a:r>
                        <a:rPr lang="en-US" dirty="0"/>
                        <a:t>Table Name</a:t>
                      </a:r>
                    </a:p>
                  </a:txBody>
                  <a:tcPr/>
                </a:tc>
                <a:tc>
                  <a:txBody>
                    <a:bodyPr/>
                    <a:lstStyle/>
                    <a:p>
                      <a:r>
                        <a:rPr lang="en-US" dirty="0"/>
                        <a:t>Column Name</a:t>
                      </a:r>
                    </a:p>
                  </a:txBody>
                  <a:tcPr/>
                </a:tc>
                <a:tc>
                  <a:txBody>
                    <a:bodyPr/>
                    <a:lstStyle/>
                    <a:p>
                      <a:r>
                        <a:rPr lang="en-US" dirty="0"/>
                        <a:t>Data Type</a:t>
                      </a:r>
                    </a:p>
                  </a:txBody>
                  <a:tcPr/>
                </a:tc>
                <a:extLst>
                  <a:ext uri="{0D108BD9-81ED-4DB2-BD59-A6C34878D82A}">
                    <a16:rowId xmlns:a16="http://schemas.microsoft.com/office/drawing/2014/main" val="3990681416"/>
                  </a:ext>
                </a:extLst>
              </a:tr>
              <a:tr h="376922">
                <a:tc>
                  <a:txBody>
                    <a:bodyPr/>
                    <a:lstStyle/>
                    <a:p>
                      <a:r>
                        <a:rPr lang="en-US" dirty="0"/>
                        <a:t>Leaves</a:t>
                      </a:r>
                    </a:p>
                  </a:txBody>
                  <a:tcPr/>
                </a:tc>
                <a:tc>
                  <a:txBody>
                    <a:bodyPr/>
                    <a:lstStyle/>
                    <a:p>
                      <a:r>
                        <a:rPr lang="en-US" dirty="0"/>
                        <a:t>leave_ID</a:t>
                      </a:r>
                    </a:p>
                  </a:txBody>
                  <a:tcPr/>
                </a:tc>
                <a:tc>
                  <a:txBody>
                    <a:bodyPr/>
                    <a:lstStyle/>
                    <a:p>
                      <a:r>
                        <a:rPr lang="en-US" dirty="0"/>
                        <a:t>INT</a:t>
                      </a:r>
                    </a:p>
                  </a:txBody>
                  <a:tcPr/>
                </a:tc>
                <a:extLst>
                  <a:ext uri="{0D108BD9-81ED-4DB2-BD59-A6C34878D82A}">
                    <a16:rowId xmlns:a16="http://schemas.microsoft.com/office/drawing/2014/main" val="1872469541"/>
                  </a:ext>
                </a:extLst>
              </a:tr>
              <a:tr h="376922">
                <a:tc>
                  <a:txBody>
                    <a:bodyPr/>
                    <a:lstStyle/>
                    <a:p>
                      <a:r>
                        <a:rPr lang="en-US" dirty="0"/>
                        <a:t>Leaves</a:t>
                      </a:r>
                    </a:p>
                  </a:txBody>
                  <a:tcPr/>
                </a:tc>
                <a:tc>
                  <a:txBody>
                    <a:bodyPr/>
                    <a:lstStyle/>
                    <a:p>
                      <a:r>
                        <a:rPr lang="en-US" dirty="0"/>
                        <a:t>emp_ID</a:t>
                      </a:r>
                    </a:p>
                  </a:txBody>
                  <a:tcPr/>
                </a:tc>
                <a:tc>
                  <a:txBody>
                    <a:bodyPr/>
                    <a:lstStyle/>
                    <a:p>
                      <a:r>
                        <a:rPr lang="en-US" dirty="0"/>
                        <a:t>INT</a:t>
                      </a:r>
                    </a:p>
                  </a:txBody>
                  <a:tcPr/>
                </a:tc>
                <a:extLst>
                  <a:ext uri="{0D108BD9-81ED-4DB2-BD59-A6C34878D82A}">
                    <a16:rowId xmlns:a16="http://schemas.microsoft.com/office/drawing/2014/main" val="2889591368"/>
                  </a:ext>
                </a:extLst>
              </a:tr>
              <a:tr h="376922">
                <a:tc>
                  <a:txBody>
                    <a:bodyPr/>
                    <a:lstStyle/>
                    <a:p>
                      <a:r>
                        <a:rPr lang="en-US" dirty="0"/>
                        <a:t>Leaves</a:t>
                      </a:r>
                    </a:p>
                  </a:txBody>
                  <a:tcPr/>
                </a:tc>
                <a:tc>
                  <a:txBody>
                    <a:bodyPr/>
                    <a:lstStyle/>
                    <a:p>
                      <a:r>
                        <a:rPr lang="en-US" dirty="0"/>
                        <a:t>date</a:t>
                      </a:r>
                    </a:p>
                  </a:txBody>
                  <a:tcPr/>
                </a:tc>
                <a:tc>
                  <a:txBody>
                    <a:bodyPr/>
                    <a:lstStyle/>
                    <a:p>
                      <a:r>
                        <a:rPr lang="en-US" dirty="0"/>
                        <a:t>DATE</a:t>
                      </a:r>
                    </a:p>
                  </a:txBody>
                  <a:tcPr/>
                </a:tc>
                <a:extLst>
                  <a:ext uri="{0D108BD9-81ED-4DB2-BD59-A6C34878D82A}">
                    <a16:rowId xmlns:a16="http://schemas.microsoft.com/office/drawing/2014/main" val="1795842690"/>
                  </a:ext>
                </a:extLst>
              </a:tr>
              <a:tr h="376922">
                <a:tc>
                  <a:txBody>
                    <a:bodyPr/>
                    <a:lstStyle/>
                    <a:p>
                      <a:r>
                        <a:rPr lang="en-US" dirty="0"/>
                        <a:t>Leaves</a:t>
                      </a:r>
                    </a:p>
                  </a:txBody>
                  <a:tcPr/>
                </a:tc>
                <a:tc>
                  <a:txBody>
                    <a:bodyPr/>
                    <a:lstStyle/>
                    <a:p>
                      <a:r>
                        <a:rPr lang="en-US" dirty="0"/>
                        <a:t>reason</a:t>
                      </a:r>
                    </a:p>
                  </a:txBody>
                  <a:tcPr/>
                </a:tc>
                <a:tc>
                  <a:txBody>
                    <a:bodyPr/>
                    <a:lstStyle/>
                    <a:p>
                      <a:r>
                        <a:rPr lang="en-US" dirty="0"/>
                        <a:t>TEXT</a:t>
                      </a:r>
                    </a:p>
                  </a:txBody>
                  <a:tcPr/>
                </a:tc>
                <a:extLst>
                  <a:ext uri="{0D108BD9-81ED-4DB2-BD59-A6C34878D82A}">
                    <a16:rowId xmlns:a16="http://schemas.microsoft.com/office/drawing/2014/main" val="42579364"/>
                  </a:ext>
                </a:extLst>
              </a:tr>
              <a:tr h="376922">
                <a:tc>
                  <a:txBody>
                    <a:bodyPr/>
                    <a:lstStyle/>
                    <a:p>
                      <a:r>
                        <a:rPr lang="en-US" dirty="0"/>
                        <a:t>Payroll</a:t>
                      </a:r>
                    </a:p>
                  </a:txBody>
                  <a:tcPr/>
                </a:tc>
                <a:tc>
                  <a:txBody>
                    <a:bodyPr/>
                    <a:lstStyle/>
                    <a:p>
                      <a:r>
                        <a:rPr lang="en-US" dirty="0" err="1"/>
                        <a:t>payroll_ID</a:t>
                      </a:r>
                      <a:endParaRPr lang="en-US" dirty="0"/>
                    </a:p>
                  </a:txBody>
                  <a:tcPr/>
                </a:tc>
                <a:tc>
                  <a:txBody>
                    <a:bodyPr/>
                    <a:lstStyle/>
                    <a:p>
                      <a:r>
                        <a:rPr lang="en-US" dirty="0"/>
                        <a:t>INT</a:t>
                      </a:r>
                    </a:p>
                  </a:txBody>
                  <a:tcPr/>
                </a:tc>
                <a:extLst>
                  <a:ext uri="{0D108BD9-81ED-4DB2-BD59-A6C34878D82A}">
                    <a16:rowId xmlns:a16="http://schemas.microsoft.com/office/drawing/2014/main" val="308629734"/>
                  </a:ext>
                </a:extLst>
              </a:tr>
              <a:tr h="376922">
                <a:tc>
                  <a:txBody>
                    <a:bodyPr/>
                    <a:lstStyle/>
                    <a:p>
                      <a:r>
                        <a:rPr lang="en-US" dirty="0"/>
                        <a:t>Payroll</a:t>
                      </a:r>
                    </a:p>
                  </a:txBody>
                  <a:tcPr/>
                </a:tc>
                <a:tc>
                  <a:txBody>
                    <a:bodyPr/>
                    <a:lstStyle/>
                    <a:p>
                      <a:r>
                        <a:rPr lang="en-US" dirty="0"/>
                        <a:t>emp_ID</a:t>
                      </a:r>
                    </a:p>
                  </a:txBody>
                  <a:tcPr/>
                </a:tc>
                <a:tc>
                  <a:txBody>
                    <a:bodyPr/>
                    <a:lstStyle/>
                    <a:p>
                      <a:r>
                        <a:rPr lang="en-US" dirty="0"/>
                        <a:t>INT</a:t>
                      </a:r>
                    </a:p>
                  </a:txBody>
                  <a:tcPr/>
                </a:tc>
                <a:extLst>
                  <a:ext uri="{0D108BD9-81ED-4DB2-BD59-A6C34878D82A}">
                    <a16:rowId xmlns:a16="http://schemas.microsoft.com/office/drawing/2014/main" val="1772270492"/>
                  </a:ext>
                </a:extLst>
              </a:tr>
              <a:tr h="376922">
                <a:tc>
                  <a:txBody>
                    <a:bodyPr/>
                    <a:lstStyle/>
                    <a:p>
                      <a:r>
                        <a:rPr lang="en-US" dirty="0"/>
                        <a:t>Payroll</a:t>
                      </a:r>
                    </a:p>
                  </a:txBody>
                  <a:tcPr/>
                </a:tc>
                <a:tc>
                  <a:txBody>
                    <a:bodyPr/>
                    <a:lstStyle/>
                    <a:p>
                      <a:r>
                        <a:rPr lang="en-US" dirty="0" err="1"/>
                        <a:t>job_ID</a:t>
                      </a:r>
                      <a:endParaRPr lang="en-US" dirty="0"/>
                    </a:p>
                  </a:txBody>
                  <a:tcPr/>
                </a:tc>
                <a:tc>
                  <a:txBody>
                    <a:bodyPr/>
                    <a:lstStyle/>
                    <a:p>
                      <a:r>
                        <a:rPr lang="en-US" dirty="0"/>
                        <a:t>INT</a:t>
                      </a:r>
                    </a:p>
                  </a:txBody>
                  <a:tcPr/>
                </a:tc>
                <a:extLst>
                  <a:ext uri="{0D108BD9-81ED-4DB2-BD59-A6C34878D82A}">
                    <a16:rowId xmlns:a16="http://schemas.microsoft.com/office/drawing/2014/main" val="1982064239"/>
                  </a:ext>
                </a:extLst>
              </a:tr>
              <a:tr h="376922">
                <a:tc>
                  <a:txBody>
                    <a:bodyPr/>
                    <a:lstStyle/>
                    <a:p>
                      <a:r>
                        <a:rPr lang="en-US" dirty="0"/>
                        <a:t>Payroll</a:t>
                      </a:r>
                    </a:p>
                  </a:txBody>
                  <a:tcPr/>
                </a:tc>
                <a:tc>
                  <a:txBody>
                    <a:bodyPr/>
                    <a:lstStyle/>
                    <a:p>
                      <a:r>
                        <a:rPr lang="en-US" dirty="0" err="1"/>
                        <a:t>salary_ID</a:t>
                      </a:r>
                      <a:endParaRPr lang="en-US" dirty="0"/>
                    </a:p>
                  </a:txBody>
                  <a:tcPr/>
                </a:tc>
                <a:tc>
                  <a:txBody>
                    <a:bodyPr/>
                    <a:lstStyle/>
                    <a:p>
                      <a:r>
                        <a:rPr lang="en-US" dirty="0"/>
                        <a:t>INT</a:t>
                      </a:r>
                    </a:p>
                  </a:txBody>
                  <a:tcPr/>
                </a:tc>
                <a:extLst>
                  <a:ext uri="{0D108BD9-81ED-4DB2-BD59-A6C34878D82A}">
                    <a16:rowId xmlns:a16="http://schemas.microsoft.com/office/drawing/2014/main" val="2861878629"/>
                  </a:ext>
                </a:extLst>
              </a:tr>
              <a:tr h="376922">
                <a:tc>
                  <a:txBody>
                    <a:bodyPr/>
                    <a:lstStyle/>
                    <a:p>
                      <a:r>
                        <a:rPr lang="en-US" dirty="0"/>
                        <a:t>Payroll</a:t>
                      </a:r>
                    </a:p>
                  </a:txBody>
                  <a:tcPr/>
                </a:tc>
                <a:tc>
                  <a:txBody>
                    <a:bodyPr/>
                    <a:lstStyle/>
                    <a:p>
                      <a:r>
                        <a:rPr lang="en-US" dirty="0"/>
                        <a:t>leave_ID</a:t>
                      </a:r>
                    </a:p>
                  </a:txBody>
                  <a:tcPr/>
                </a:tc>
                <a:tc>
                  <a:txBody>
                    <a:bodyPr/>
                    <a:lstStyle/>
                    <a:p>
                      <a:r>
                        <a:rPr lang="en-US" dirty="0"/>
                        <a:t>INT</a:t>
                      </a:r>
                    </a:p>
                  </a:txBody>
                  <a:tcPr/>
                </a:tc>
                <a:extLst>
                  <a:ext uri="{0D108BD9-81ED-4DB2-BD59-A6C34878D82A}">
                    <a16:rowId xmlns:a16="http://schemas.microsoft.com/office/drawing/2014/main" val="2841319458"/>
                  </a:ext>
                </a:extLst>
              </a:tr>
              <a:tr h="376922">
                <a:tc>
                  <a:txBody>
                    <a:bodyPr/>
                    <a:lstStyle/>
                    <a:p>
                      <a:r>
                        <a:rPr lang="en-US" dirty="0"/>
                        <a:t>Payroll</a:t>
                      </a:r>
                    </a:p>
                  </a:txBody>
                  <a:tcPr/>
                </a:tc>
                <a:tc>
                  <a:txBody>
                    <a:bodyPr/>
                    <a:lstStyle/>
                    <a:p>
                      <a:r>
                        <a:rPr lang="en-US" dirty="0"/>
                        <a:t>date</a:t>
                      </a:r>
                    </a:p>
                  </a:txBody>
                  <a:tcPr/>
                </a:tc>
                <a:tc>
                  <a:txBody>
                    <a:bodyPr/>
                    <a:lstStyle/>
                    <a:p>
                      <a:r>
                        <a:rPr lang="en-US" dirty="0"/>
                        <a:t>DATE</a:t>
                      </a:r>
                    </a:p>
                  </a:txBody>
                  <a:tcPr/>
                </a:tc>
                <a:extLst>
                  <a:ext uri="{0D108BD9-81ED-4DB2-BD59-A6C34878D82A}">
                    <a16:rowId xmlns:a16="http://schemas.microsoft.com/office/drawing/2014/main" val="3638865656"/>
                  </a:ext>
                </a:extLst>
              </a:tr>
              <a:tr h="376922">
                <a:tc>
                  <a:txBody>
                    <a:bodyPr/>
                    <a:lstStyle/>
                    <a:p>
                      <a:r>
                        <a:rPr lang="en-US" dirty="0"/>
                        <a:t>Payroll</a:t>
                      </a:r>
                    </a:p>
                  </a:txBody>
                  <a:tcPr/>
                </a:tc>
                <a:tc>
                  <a:txBody>
                    <a:bodyPr/>
                    <a:lstStyle/>
                    <a:p>
                      <a:r>
                        <a:rPr lang="en-US" dirty="0"/>
                        <a:t>report</a:t>
                      </a:r>
                    </a:p>
                  </a:txBody>
                  <a:tcPr/>
                </a:tc>
                <a:tc>
                  <a:txBody>
                    <a:bodyPr/>
                    <a:lstStyle/>
                    <a:p>
                      <a:r>
                        <a:rPr lang="en-US" dirty="0"/>
                        <a:t>TEXT</a:t>
                      </a:r>
                    </a:p>
                  </a:txBody>
                  <a:tcPr/>
                </a:tc>
                <a:extLst>
                  <a:ext uri="{0D108BD9-81ED-4DB2-BD59-A6C34878D82A}">
                    <a16:rowId xmlns:a16="http://schemas.microsoft.com/office/drawing/2014/main" val="3119409697"/>
                  </a:ext>
                </a:extLst>
              </a:tr>
              <a:tr h="376922">
                <a:tc>
                  <a:txBody>
                    <a:bodyPr/>
                    <a:lstStyle/>
                    <a:p>
                      <a:r>
                        <a:rPr lang="en-US" dirty="0"/>
                        <a:t>Payroll</a:t>
                      </a:r>
                    </a:p>
                  </a:txBody>
                  <a:tcPr/>
                </a:tc>
                <a:tc>
                  <a:txBody>
                    <a:bodyPr/>
                    <a:lstStyle/>
                    <a:p>
                      <a:r>
                        <a:rPr lang="en-US" dirty="0"/>
                        <a:t>total_amount</a:t>
                      </a:r>
                    </a:p>
                  </a:txBody>
                  <a:tcPr/>
                </a:tc>
                <a:tc>
                  <a:txBody>
                    <a:bodyPr/>
                    <a:lstStyle/>
                    <a:p>
                      <a:r>
                        <a:rPr lang="en-US" dirty="0"/>
                        <a:t>DECIMAL(10,2)</a:t>
                      </a:r>
                    </a:p>
                  </a:txBody>
                  <a:tcPr/>
                </a:tc>
                <a:extLst>
                  <a:ext uri="{0D108BD9-81ED-4DB2-BD59-A6C34878D82A}">
                    <a16:rowId xmlns:a16="http://schemas.microsoft.com/office/drawing/2014/main" val="3260171363"/>
                  </a:ext>
                </a:extLst>
              </a:tr>
            </a:tbl>
          </a:graphicData>
        </a:graphic>
      </p:graphicFrame>
    </p:spTree>
    <p:extLst>
      <p:ext uri="{BB962C8B-B14F-4D97-AF65-F5344CB8AC3E}">
        <p14:creationId xmlns:p14="http://schemas.microsoft.com/office/powerpoint/2010/main" val="2120584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png">
            <a:extLst>
              <a:ext uri="{FF2B5EF4-FFF2-40B4-BE49-F238E27FC236}">
                <a16:creationId xmlns:a16="http://schemas.microsoft.com/office/drawing/2014/main" id="{D6120B7D-C7FF-D44F-8FCA-6842AB02CDDD}"/>
              </a:ext>
            </a:extLst>
          </p:cNvPr>
          <p:cNvPicPr/>
          <p:nvPr/>
        </p:nvPicPr>
        <p:blipFill>
          <a:blip r:embed="rId2"/>
          <a:srcRect/>
          <a:stretch>
            <a:fillRect/>
          </a:stretch>
        </p:blipFill>
        <p:spPr>
          <a:xfrm>
            <a:off x="705194" y="1113183"/>
            <a:ext cx="7474709" cy="5123469"/>
          </a:xfrm>
          <a:prstGeom prst="rect">
            <a:avLst/>
          </a:prstGeom>
          <a:ln/>
        </p:spPr>
      </p:pic>
      <p:sp>
        <p:nvSpPr>
          <p:cNvPr id="3" name="TextBox 2">
            <a:extLst>
              <a:ext uri="{FF2B5EF4-FFF2-40B4-BE49-F238E27FC236}">
                <a16:creationId xmlns:a16="http://schemas.microsoft.com/office/drawing/2014/main" id="{29E7CB88-1530-9F69-945E-1FB95F20D1B5}"/>
              </a:ext>
            </a:extLst>
          </p:cNvPr>
          <p:cNvSpPr txBox="1"/>
          <p:nvPr/>
        </p:nvSpPr>
        <p:spPr>
          <a:xfrm>
            <a:off x="705194" y="427383"/>
            <a:ext cx="4343884" cy="461665"/>
          </a:xfrm>
          <a:prstGeom prst="rect">
            <a:avLst/>
          </a:prstGeom>
          <a:noFill/>
        </p:spPr>
        <p:txBody>
          <a:bodyPr wrap="square" rtlCol="0">
            <a:spAutoFit/>
          </a:bodyPr>
          <a:lstStyle/>
          <a:p>
            <a:r>
              <a:rPr lang="en-US" sz="2400" b="1" u="sng" dirty="0">
                <a:solidFill>
                  <a:srgbClr val="FF0000"/>
                </a:solidFill>
              </a:rPr>
              <a:t>ER DIAGRAM</a:t>
            </a:r>
          </a:p>
        </p:txBody>
      </p:sp>
      <p:pic>
        <p:nvPicPr>
          <p:cNvPr id="6" name="Picture 5">
            <a:extLst>
              <a:ext uri="{FF2B5EF4-FFF2-40B4-BE49-F238E27FC236}">
                <a16:creationId xmlns:a16="http://schemas.microsoft.com/office/drawing/2014/main" id="{576B3100-3B43-D627-F7A6-70830DD1F3B5}"/>
              </a:ext>
            </a:extLst>
          </p:cNvPr>
          <p:cNvPicPr>
            <a:picLocks noChangeAspect="1"/>
          </p:cNvPicPr>
          <p:nvPr/>
        </p:nvPicPr>
        <p:blipFill>
          <a:blip r:embed="rId3"/>
          <a:stretch>
            <a:fillRect/>
          </a:stretch>
        </p:blipFill>
        <p:spPr>
          <a:xfrm>
            <a:off x="8070573" y="571348"/>
            <a:ext cx="4026176" cy="5665304"/>
          </a:xfrm>
          <a:prstGeom prst="rect">
            <a:avLst/>
          </a:prstGeom>
        </p:spPr>
      </p:pic>
    </p:spTree>
    <p:extLst>
      <p:ext uri="{BB962C8B-B14F-4D97-AF65-F5344CB8AC3E}">
        <p14:creationId xmlns:p14="http://schemas.microsoft.com/office/powerpoint/2010/main" val="2016206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DE059A-F282-8FA4-E735-B482EFAEF003}"/>
              </a:ext>
            </a:extLst>
          </p:cNvPr>
          <p:cNvSpPr txBox="1"/>
          <p:nvPr/>
        </p:nvSpPr>
        <p:spPr>
          <a:xfrm>
            <a:off x="506896" y="377687"/>
            <a:ext cx="10694504" cy="584775"/>
          </a:xfrm>
          <a:prstGeom prst="rect">
            <a:avLst/>
          </a:prstGeom>
          <a:noFill/>
        </p:spPr>
        <p:txBody>
          <a:bodyPr wrap="square" rtlCol="0">
            <a:spAutoFit/>
          </a:bodyPr>
          <a:lstStyle/>
          <a:p>
            <a:r>
              <a:rPr lang="en-US" sz="3200" b="1" u="sng" dirty="0">
                <a:solidFill>
                  <a:srgbClr val="FF0000"/>
                </a:solidFill>
              </a:rPr>
              <a:t>Queries and Results :</a:t>
            </a:r>
          </a:p>
        </p:txBody>
      </p:sp>
      <p:sp>
        <p:nvSpPr>
          <p:cNvPr id="3" name="TextBox 2">
            <a:extLst>
              <a:ext uri="{FF2B5EF4-FFF2-40B4-BE49-F238E27FC236}">
                <a16:creationId xmlns:a16="http://schemas.microsoft.com/office/drawing/2014/main" id="{65268900-7D4D-F8FE-D12B-8F0F8F812BFE}"/>
              </a:ext>
            </a:extLst>
          </p:cNvPr>
          <p:cNvSpPr txBox="1"/>
          <p:nvPr/>
        </p:nvSpPr>
        <p:spPr>
          <a:xfrm>
            <a:off x="506896" y="1411356"/>
            <a:ext cx="6251713" cy="5724644"/>
          </a:xfrm>
          <a:prstGeom prst="rect">
            <a:avLst/>
          </a:prstGeom>
          <a:noFill/>
        </p:spPr>
        <p:txBody>
          <a:bodyPr wrap="square" rtlCol="0">
            <a:spAutoFit/>
          </a:bodyPr>
          <a:lstStyle/>
          <a:p>
            <a:r>
              <a:rPr lang="en-US" sz="2400" dirty="0">
                <a:solidFill>
                  <a:srgbClr val="FF0000"/>
                </a:solidFill>
              </a:rPr>
              <a:t>1.  How many unique employees are currently in the system?</a:t>
            </a:r>
          </a:p>
          <a:p>
            <a:endParaRPr lang="en-US" dirty="0"/>
          </a:p>
          <a:p>
            <a:endParaRPr lang="en-US" dirty="0"/>
          </a:p>
          <a:p>
            <a:endParaRPr lang="en-US" dirty="0"/>
          </a:p>
          <a:p>
            <a:r>
              <a:rPr lang="en-US" sz="2400" dirty="0">
                <a:latin typeface="Calibri" panose="020F0502020204030204" pitchFamily="34" charset="0"/>
                <a:ea typeface="Calibri" panose="020F0502020204030204" pitchFamily="34" charset="0"/>
                <a:cs typeface="Calibri" panose="020F0502020204030204" pitchFamily="34" charset="0"/>
              </a:rPr>
              <a:t>SELECT COUNT(*) AS unique_employees_count</a:t>
            </a:r>
          </a:p>
          <a:p>
            <a:r>
              <a:rPr lang="en-US" sz="2400" dirty="0">
                <a:latin typeface="Calibri" panose="020F0502020204030204" pitchFamily="34" charset="0"/>
                <a:ea typeface="Calibri" panose="020F0502020204030204" pitchFamily="34" charset="0"/>
                <a:cs typeface="Calibri" panose="020F0502020204030204" pitchFamily="34" charset="0"/>
              </a:rPr>
              <a:t>FROM (    </a:t>
            </a:r>
          </a:p>
          <a:p>
            <a:r>
              <a:rPr lang="en-US" sz="2400" dirty="0">
                <a:latin typeface="Calibri" panose="020F0502020204030204" pitchFamily="34" charset="0"/>
                <a:ea typeface="Calibri" panose="020F0502020204030204" pitchFamily="34" charset="0"/>
                <a:cs typeface="Calibri" panose="020F0502020204030204" pitchFamily="34" charset="0"/>
              </a:rPr>
              <a:t>          SELECT DISTINCT emp_ID</a:t>
            </a:r>
          </a:p>
          <a:p>
            <a:r>
              <a:rPr lang="en-US" sz="2400" dirty="0">
                <a:latin typeface="Calibri" panose="020F0502020204030204" pitchFamily="34" charset="0"/>
                <a:ea typeface="Calibri" panose="020F0502020204030204" pitchFamily="34" charset="0"/>
                <a:cs typeface="Calibri" panose="020F0502020204030204" pitchFamily="34" charset="0"/>
              </a:rPr>
              <a:t>          FROM Employee</a:t>
            </a:r>
          </a:p>
          <a:p>
            <a:r>
              <a:rPr lang="en-US" sz="2400" dirty="0">
                <a:latin typeface="Calibri" panose="020F0502020204030204" pitchFamily="34" charset="0"/>
                <a:ea typeface="Calibri" panose="020F0502020204030204" pitchFamily="34" charset="0"/>
                <a:cs typeface="Calibri" panose="020F0502020204030204" pitchFamily="34" charset="0"/>
              </a:rPr>
              <a:t>) AS unique_emp;</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F19DA68A-D122-515E-69AD-6FD26CFB436C}"/>
              </a:ext>
            </a:extLst>
          </p:cNvPr>
          <p:cNvPicPr>
            <a:picLocks noChangeAspect="1"/>
          </p:cNvPicPr>
          <p:nvPr/>
        </p:nvPicPr>
        <p:blipFill>
          <a:blip r:embed="rId2"/>
          <a:stretch>
            <a:fillRect/>
          </a:stretch>
        </p:blipFill>
        <p:spPr>
          <a:xfrm>
            <a:off x="7212496" y="1610099"/>
            <a:ext cx="4472608" cy="2474883"/>
          </a:xfrm>
          <a:prstGeom prst="rect">
            <a:avLst/>
          </a:prstGeom>
        </p:spPr>
      </p:pic>
    </p:spTree>
    <p:extLst>
      <p:ext uri="{BB962C8B-B14F-4D97-AF65-F5344CB8AC3E}">
        <p14:creationId xmlns:p14="http://schemas.microsoft.com/office/powerpoint/2010/main" val="3414695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D834CA-A310-4D49-7820-B35284CF9748}"/>
              </a:ext>
            </a:extLst>
          </p:cNvPr>
          <p:cNvSpPr txBox="1"/>
          <p:nvPr/>
        </p:nvSpPr>
        <p:spPr>
          <a:xfrm>
            <a:off x="675861" y="636104"/>
            <a:ext cx="8209722" cy="4062651"/>
          </a:xfrm>
          <a:prstGeom prst="rect">
            <a:avLst/>
          </a:prstGeom>
          <a:noFill/>
        </p:spPr>
        <p:txBody>
          <a:bodyPr wrap="square" rtlCol="0">
            <a:spAutoFit/>
          </a:bodyPr>
          <a:lstStyle/>
          <a:p>
            <a:r>
              <a:rPr lang="en-US" sz="2400" dirty="0">
                <a:solidFill>
                  <a:srgbClr val="FF0000"/>
                </a:solidFill>
              </a:rPr>
              <a:t>2. What is the average salary per department?</a:t>
            </a:r>
          </a:p>
          <a:p>
            <a:endParaRPr lang="en-US" dirty="0">
              <a:solidFill>
                <a:srgbClr val="FF0000"/>
              </a:solidFill>
            </a:endParaRPr>
          </a:p>
          <a:p>
            <a:endParaRPr lang="en-US" dirty="0"/>
          </a:p>
          <a:p>
            <a:endParaRPr lang="en-US" dirty="0"/>
          </a:p>
          <a:p>
            <a:r>
              <a:rPr lang="en-US" sz="2400" dirty="0">
                <a:latin typeface="Calibri" panose="020F0502020204030204" pitchFamily="34" charset="0"/>
                <a:ea typeface="Calibri" panose="020F0502020204030204" pitchFamily="34" charset="0"/>
                <a:cs typeface="Calibri" panose="020F0502020204030204" pitchFamily="34" charset="0"/>
              </a:rPr>
              <a:t>SELECT</a:t>
            </a:r>
          </a:p>
          <a:p>
            <a:r>
              <a:rPr lang="en-US" sz="2400" dirty="0">
                <a:latin typeface="Calibri" panose="020F0502020204030204" pitchFamily="34" charset="0"/>
                <a:ea typeface="Calibri" panose="020F0502020204030204" pitchFamily="34" charset="0"/>
                <a:cs typeface="Calibri" panose="020F0502020204030204" pitchFamily="34" charset="0"/>
              </a:rPr>
              <a:t>     jd.jobdept AS department, AVG(s.amount) AS avg_salary</a:t>
            </a:r>
          </a:p>
          <a:p>
            <a:r>
              <a:rPr lang="en-US" sz="2400" dirty="0">
                <a:latin typeface="Calibri" panose="020F0502020204030204" pitchFamily="34" charset="0"/>
                <a:ea typeface="Calibri" panose="020F0502020204030204" pitchFamily="34" charset="0"/>
                <a:cs typeface="Calibri" panose="020F0502020204030204" pitchFamily="34" charset="0"/>
              </a:rPr>
              <a:t>FROM</a:t>
            </a:r>
          </a:p>
          <a:p>
            <a:r>
              <a:rPr lang="en-US" sz="2400" dirty="0">
                <a:latin typeface="Calibri" panose="020F0502020204030204" pitchFamily="34" charset="0"/>
                <a:ea typeface="Calibri" panose="020F0502020204030204" pitchFamily="34" charset="0"/>
                <a:cs typeface="Calibri" panose="020F0502020204030204" pitchFamily="34" charset="0"/>
              </a:rPr>
              <a:t>    salarybonus AS s        </a:t>
            </a:r>
          </a:p>
          <a:p>
            <a:r>
              <a:rPr lang="en-US" sz="2400" dirty="0">
                <a:latin typeface="Calibri" panose="020F0502020204030204" pitchFamily="34" charset="0"/>
                <a:ea typeface="Calibri" panose="020F0502020204030204" pitchFamily="34" charset="0"/>
                <a:cs typeface="Calibri" panose="020F0502020204030204" pitchFamily="34" charset="0"/>
              </a:rPr>
              <a:t>JOIN</a:t>
            </a:r>
          </a:p>
          <a:p>
            <a:r>
              <a:rPr lang="en-US" sz="2400" dirty="0">
                <a:latin typeface="Calibri" panose="020F0502020204030204" pitchFamily="34" charset="0"/>
                <a:ea typeface="Calibri" panose="020F0502020204030204" pitchFamily="34" charset="0"/>
                <a:cs typeface="Calibri" panose="020F0502020204030204" pitchFamily="34" charset="0"/>
              </a:rPr>
              <a:t>    jobdepartment AS jd ON jd.Job_ID = s.Job_ID</a:t>
            </a:r>
          </a:p>
          <a:p>
            <a:r>
              <a:rPr lang="en-US" sz="2400" dirty="0">
                <a:latin typeface="Calibri" panose="020F0502020204030204" pitchFamily="34" charset="0"/>
                <a:ea typeface="Calibri" panose="020F0502020204030204" pitchFamily="34" charset="0"/>
                <a:cs typeface="Calibri" panose="020F0502020204030204" pitchFamily="34" charset="0"/>
              </a:rPr>
              <a:t>GROUP BY jd.jobdept</a:t>
            </a:r>
          </a:p>
          <a:p>
            <a:r>
              <a:rPr lang="en-US" sz="2400" dirty="0">
                <a:latin typeface="Calibri" panose="020F0502020204030204" pitchFamily="34" charset="0"/>
                <a:ea typeface="Calibri" panose="020F0502020204030204" pitchFamily="34" charset="0"/>
                <a:cs typeface="Calibri" panose="020F0502020204030204" pitchFamily="34" charset="0"/>
              </a:rPr>
              <a:t>ORDER BY avg_salary DESC;</a:t>
            </a:r>
          </a:p>
        </p:txBody>
      </p:sp>
      <p:pic>
        <p:nvPicPr>
          <p:cNvPr id="4" name="Picture 3">
            <a:extLst>
              <a:ext uri="{FF2B5EF4-FFF2-40B4-BE49-F238E27FC236}">
                <a16:creationId xmlns:a16="http://schemas.microsoft.com/office/drawing/2014/main" id="{7897F54D-3EBE-6C4A-8BBF-7ABC8BBC812F}"/>
              </a:ext>
            </a:extLst>
          </p:cNvPr>
          <p:cNvPicPr>
            <a:picLocks noChangeAspect="1"/>
          </p:cNvPicPr>
          <p:nvPr/>
        </p:nvPicPr>
        <p:blipFill>
          <a:blip r:embed="rId2"/>
          <a:stretch>
            <a:fillRect/>
          </a:stretch>
        </p:blipFill>
        <p:spPr>
          <a:xfrm>
            <a:off x="8696739" y="1361662"/>
            <a:ext cx="3495261" cy="3518451"/>
          </a:xfrm>
          <a:prstGeom prst="rect">
            <a:avLst/>
          </a:prstGeom>
        </p:spPr>
      </p:pic>
    </p:spTree>
    <p:extLst>
      <p:ext uri="{BB962C8B-B14F-4D97-AF65-F5344CB8AC3E}">
        <p14:creationId xmlns:p14="http://schemas.microsoft.com/office/powerpoint/2010/main" val="256291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90B53B-CDBF-B122-4BDB-B6386802005E}"/>
              </a:ext>
            </a:extLst>
          </p:cNvPr>
          <p:cNvSpPr txBox="1"/>
          <p:nvPr/>
        </p:nvSpPr>
        <p:spPr>
          <a:xfrm>
            <a:off x="397566" y="320456"/>
            <a:ext cx="10614991" cy="5755422"/>
          </a:xfrm>
          <a:prstGeom prst="rect">
            <a:avLst/>
          </a:prstGeom>
          <a:noFill/>
        </p:spPr>
        <p:txBody>
          <a:bodyPr wrap="square" rtlCol="0">
            <a:spAutoFit/>
          </a:bodyPr>
          <a:lstStyle/>
          <a:p>
            <a:r>
              <a:rPr lang="en-US" sz="2400" dirty="0">
                <a:solidFill>
                  <a:srgbClr val="FF0000"/>
                </a:solidFill>
              </a:rPr>
              <a:t>3. Who are the top 5 highest-paid employees?</a:t>
            </a:r>
          </a:p>
          <a:p>
            <a:endParaRPr lang="en-US" sz="2400" dirty="0">
              <a:solidFill>
                <a:srgbClr val="FF0000"/>
              </a:solidFill>
            </a:endParaRPr>
          </a:p>
          <a:p>
            <a:r>
              <a:rPr lang="en-US" sz="2000" dirty="0">
                <a:latin typeface="Calibri" panose="020F0502020204030204" pitchFamily="34" charset="0"/>
                <a:ea typeface="Calibri" panose="020F0502020204030204" pitchFamily="34" charset="0"/>
                <a:cs typeface="Calibri" panose="020F0502020204030204" pitchFamily="34" charset="0"/>
              </a:rPr>
              <a:t>WITH ranked_employees AS ( </a:t>
            </a:r>
          </a:p>
          <a:p>
            <a:r>
              <a:rPr lang="en-US" sz="2000" dirty="0">
                <a:latin typeface="Calibri" panose="020F0502020204030204" pitchFamily="34" charset="0"/>
                <a:ea typeface="Calibri" panose="020F0502020204030204" pitchFamily="34" charset="0"/>
                <a:cs typeface="Calibri" panose="020F0502020204030204" pitchFamily="34" charset="0"/>
              </a:rPr>
              <a:t>   SELECT</a:t>
            </a:r>
          </a:p>
          <a:p>
            <a:r>
              <a:rPr lang="en-US" sz="2000" dirty="0">
                <a:latin typeface="Calibri" panose="020F0502020204030204" pitchFamily="34" charset="0"/>
                <a:ea typeface="Calibri" panose="020F0502020204030204" pitchFamily="34" charset="0"/>
                <a:cs typeface="Calibri" panose="020F0502020204030204" pitchFamily="34" charset="0"/>
              </a:rPr>
              <a:t>        e.emp_ID,</a:t>
            </a:r>
          </a:p>
          <a:p>
            <a:r>
              <a:rPr lang="en-US" sz="2000" dirty="0">
                <a:latin typeface="Calibri" panose="020F0502020204030204" pitchFamily="34" charset="0"/>
                <a:ea typeface="Calibri" panose="020F0502020204030204" pitchFamily="34" charset="0"/>
                <a:cs typeface="Calibri" panose="020F0502020204030204" pitchFamily="34" charset="0"/>
              </a:rPr>
              <a:t>        CONCAT(e.firstname, ' ', e.lastname) AS employee_name,</a:t>
            </a:r>
          </a:p>
          <a:p>
            <a:r>
              <a:rPr lang="en-US" sz="2000" dirty="0">
                <a:latin typeface="Calibri" panose="020F0502020204030204" pitchFamily="34" charset="0"/>
                <a:ea typeface="Calibri" panose="020F0502020204030204" pitchFamily="34" charset="0"/>
                <a:cs typeface="Calibri" panose="020F0502020204030204" pitchFamily="34" charset="0"/>
              </a:rPr>
              <a:t>        s.amount AS salary,</a:t>
            </a:r>
          </a:p>
          <a:p>
            <a:r>
              <a:rPr lang="en-US" sz="2000" dirty="0">
                <a:latin typeface="Calibri" panose="020F0502020204030204" pitchFamily="34" charset="0"/>
                <a:ea typeface="Calibri" panose="020F0502020204030204" pitchFamily="34" charset="0"/>
                <a:cs typeface="Calibri" panose="020F0502020204030204" pitchFamily="34" charset="0"/>
              </a:rPr>
              <a:t>        ROW_NUMBER() OVER (ORDER BY s.amount DESC) AS salary_rank</a:t>
            </a:r>
          </a:p>
          <a:p>
            <a:r>
              <a:rPr lang="en-US" sz="2000" dirty="0">
                <a:latin typeface="Calibri" panose="020F0502020204030204" pitchFamily="34" charset="0"/>
                <a:ea typeface="Calibri" panose="020F0502020204030204" pitchFamily="34" charset="0"/>
                <a:cs typeface="Calibri" panose="020F0502020204030204" pitchFamily="34" charset="0"/>
              </a:rPr>
              <a:t>    FROM Employee e</a:t>
            </a:r>
          </a:p>
          <a:p>
            <a:r>
              <a:rPr lang="en-US" sz="2000" dirty="0">
                <a:latin typeface="Calibri" panose="020F0502020204030204" pitchFamily="34" charset="0"/>
                <a:ea typeface="Calibri" panose="020F0502020204030204" pitchFamily="34" charset="0"/>
                <a:cs typeface="Calibri" panose="020F0502020204030204" pitchFamily="34" charset="0"/>
              </a:rPr>
              <a:t>    JOIN SalaryBonus s</a:t>
            </a:r>
          </a:p>
          <a:p>
            <a:r>
              <a:rPr lang="en-US" sz="2000" dirty="0">
                <a:latin typeface="Calibri" panose="020F0502020204030204" pitchFamily="34" charset="0"/>
                <a:ea typeface="Calibri" panose="020F0502020204030204" pitchFamily="34" charset="0"/>
                <a:cs typeface="Calibri" panose="020F0502020204030204" pitchFamily="34" charset="0"/>
              </a:rPr>
              <a:t>        ON e.Job_ID = s.Job_ID</a:t>
            </a:r>
          </a:p>
          <a:p>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dirty="0">
                <a:latin typeface="Calibri" panose="020F0502020204030204" pitchFamily="34" charset="0"/>
                <a:ea typeface="Calibri" panose="020F0502020204030204" pitchFamily="34" charset="0"/>
                <a:cs typeface="Calibri" panose="020F0502020204030204" pitchFamily="34" charset="0"/>
              </a:rPr>
              <a:t>SELECT emp_ID,</a:t>
            </a:r>
          </a:p>
          <a:p>
            <a:r>
              <a:rPr lang="en-US" sz="2000" dirty="0">
                <a:latin typeface="Calibri" panose="020F0502020204030204" pitchFamily="34" charset="0"/>
                <a:ea typeface="Calibri" panose="020F0502020204030204" pitchFamily="34" charset="0"/>
                <a:cs typeface="Calibri" panose="020F0502020204030204" pitchFamily="34" charset="0"/>
              </a:rPr>
              <a:t>       employee_name,</a:t>
            </a:r>
          </a:p>
          <a:p>
            <a:r>
              <a:rPr lang="en-US" sz="2000" dirty="0">
                <a:latin typeface="Calibri" panose="020F0502020204030204" pitchFamily="34" charset="0"/>
                <a:ea typeface="Calibri" panose="020F0502020204030204" pitchFamily="34" charset="0"/>
                <a:cs typeface="Calibri" panose="020F0502020204030204" pitchFamily="34" charset="0"/>
              </a:rPr>
              <a:t>       salary</a:t>
            </a:r>
          </a:p>
          <a:p>
            <a:r>
              <a:rPr lang="en-US" sz="2000" dirty="0">
                <a:latin typeface="Calibri" panose="020F0502020204030204" pitchFamily="34" charset="0"/>
                <a:ea typeface="Calibri" panose="020F0502020204030204" pitchFamily="34" charset="0"/>
                <a:cs typeface="Calibri" panose="020F0502020204030204" pitchFamily="34" charset="0"/>
              </a:rPr>
              <a:t>FROM ranked_employees</a:t>
            </a:r>
          </a:p>
          <a:p>
            <a:r>
              <a:rPr lang="en-US" sz="2000" dirty="0">
                <a:latin typeface="Calibri" panose="020F0502020204030204" pitchFamily="34" charset="0"/>
                <a:ea typeface="Calibri" panose="020F0502020204030204" pitchFamily="34" charset="0"/>
                <a:cs typeface="Calibri" panose="020F0502020204030204" pitchFamily="34" charset="0"/>
              </a:rPr>
              <a:t>WHERE salary_rank &lt;= 5</a:t>
            </a:r>
          </a:p>
          <a:p>
            <a:r>
              <a:rPr lang="en-US" sz="2000" dirty="0">
                <a:latin typeface="Calibri" panose="020F0502020204030204" pitchFamily="34" charset="0"/>
                <a:ea typeface="Calibri" panose="020F0502020204030204" pitchFamily="34" charset="0"/>
                <a:cs typeface="Calibri" panose="020F0502020204030204" pitchFamily="34" charset="0"/>
              </a:rPr>
              <a:t>ORDER BY salary_rank;</a:t>
            </a:r>
          </a:p>
        </p:txBody>
      </p:sp>
      <p:pic>
        <p:nvPicPr>
          <p:cNvPr id="4" name="Picture 3">
            <a:extLst>
              <a:ext uri="{FF2B5EF4-FFF2-40B4-BE49-F238E27FC236}">
                <a16:creationId xmlns:a16="http://schemas.microsoft.com/office/drawing/2014/main" id="{53B73679-CC83-2438-3953-63D706A1F25C}"/>
              </a:ext>
            </a:extLst>
          </p:cNvPr>
          <p:cNvPicPr>
            <a:picLocks noChangeAspect="1"/>
          </p:cNvPicPr>
          <p:nvPr/>
        </p:nvPicPr>
        <p:blipFill>
          <a:blip r:embed="rId2"/>
          <a:stretch>
            <a:fillRect/>
          </a:stretch>
        </p:blipFill>
        <p:spPr>
          <a:xfrm>
            <a:off x="8149390" y="1798982"/>
            <a:ext cx="3645044" cy="2663688"/>
          </a:xfrm>
          <a:prstGeom prst="rect">
            <a:avLst/>
          </a:prstGeom>
        </p:spPr>
      </p:pic>
    </p:spTree>
    <p:extLst>
      <p:ext uri="{BB962C8B-B14F-4D97-AF65-F5344CB8AC3E}">
        <p14:creationId xmlns:p14="http://schemas.microsoft.com/office/powerpoint/2010/main" val="3208235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8DB33C-1F8B-6390-6988-494615A0E815}"/>
              </a:ext>
            </a:extLst>
          </p:cNvPr>
          <p:cNvSpPr txBox="1"/>
          <p:nvPr/>
        </p:nvSpPr>
        <p:spPr>
          <a:xfrm>
            <a:off x="407506" y="198783"/>
            <a:ext cx="8100390" cy="4832092"/>
          </a:xfrm>
          <a:prstGeom prst="rect">
            <a:avLst/>
          </a:prstGeom>
          <a:noFill/>
        </p:spPr>
        <p:txBody>
          <a:bodyPr wrap="square" rtlCol="0">
            <a:spAutoFit/>
          </a:bodyPr>
          <a:lstStyle/>
          <a:p>
            <a:r>
              <a:rPr lang="en-US" sz="2400" dirty="0">
                <a:solidFill>
                  <a:srgbClr val="FF0000"/>
                </a:solidFill>
              </a:rPr>
              <a:t>4. What is the average salary range per department?</a:t>
            </a:r>
          </a:p>
          <a:p>
            <a:endParaRPr lang="en-US" sz="2400" dirty="0">
              <a:solidFill>
                <a:srgbClr val="FF0000"/>
              </a:solidFill>
            </a:endParaRPr>
          </a:p>
          <a:p>
            <a:r>
              <a:rPr lang="en-US" sz="2000" dirty="0">
                <a:latin typeface="Calibri" panose="020F0502020204030204" pitchFamily="34" charset="0"/>
                <a:ea typeface="Calibri" panose="020F0502020204030204" pitchFamily="34" charset="0"/>
                <a:cs typeface="Calibri" panose="020F0502020204030204" pitchFamily="34" charset="0"/>
              </a:rPr>
              <a:t>SELECT</a:t>
            </a:r>
          </a:p>
          <a:p>
            <a:r>
              <a:rPr lang="en-US" sz="2000" dirty="0">
                <a:latin typeface="Calibri" panose="020F0502020204030204" pitchFamily="34" charset="0"/>
                <a:ea typeface="Calibri" panose="020F0502020204030204" pitchFamily="34" charset="0"/>
                <a:cs typeface="Calibri" panose="020F0502020204030204" pitchFamily="34" charset="0"/>
              </a:rPr>
              <a:t>     jd.jobdept AS department,</a:t>
            </a:r>
          </a:p>
          <a:p>
            <a:r>
              <a:rPr lang="en-US" sz="2000" dirty="0">
                <a:latin typeface="Calibri" panose="020F0502020204030204" pitchFamily="34" charset="0"/>
                <a:ea typeface="Calibri" panose="020F0502020204030204" pitchFamily="34" charset="0"/>
                <a:cs typeface="Calibri" panose="020F0502020204030204" pitchFamily="34" charset="0"/>
              </a:rPr>
              <a:t>    AVG((CAST(REPLACE(TRIM(SUBSTRING_INDEX(jd.salaryrange, '-', 1)),</a:t>
            </a:r>
          </a:p>
          <a:p>
            <a:r>
              <a:rPr lang="en-US" sz="2000" dirty="0">
                <a:latin typeface="Calibri" panose="020F0502020204030204" pitchFamily="34" charset="0"/>
                <a:ea typeface="Calibri" panose="020F0502020204030204" pitchFamily="34" charset="0"/>
                <a:cs typeface="Calibri" panose="020F0502020204030204" pitchFamily="34" charset="0"/>
              </a:rPr>
              <a:t>            '$’,</a:t>
            </a:r>
          </a:p>
          <a:p>
            <a:r>
              <a:rPr lang="en-US" sz="2000" dirty="0">
                <a:latin typeface="Calibri" panose="020F0502020204030204" pitchFamily="34" charset="0"/>
                <a:ea typeface="Calibri" panose="020F0502020204030204" pitchFamily="34" charset="0"/>
                <a:cs typeface="Calibri" panose="020F0502020204030204" pitchFamily="34" charset="0"/>
              </a:rPr>
              <a:t>            ‘’)</a:t>
            </a:r>
          </a:p>
          <a:p>
            <a:r>
              <a:rPr lang="en-US" sz="2000" dirty="0">
                <a:latin typeface="Calibri" panose="020F0502020204030204" pitchFamily="34" charset="0"/>
                <a:ea typeface="Calibri" panose="020F0502020204030204" pitchFamily="34" charset="0"/>
                <a:cs typeface="Calibri" panose="020F0502020204030204" pitchFamily="34" charset="0"/>
              </a:rPr>
              <a:t>        AS DECIMAL (10 , 2 )) + CAST(REPLACE(TRIM(SUBSTRING_INDEX(jd.salaryrange, '-', - 1)),</a:t>
            </a:r>
          </a:p>
          <a:p>
            <a:r>
              <a:rPr lang="en-US" sz="2000" dirty="0">
                <a:latin typeface="Calibri" panose="020F0502020204030204" pitchFamily="34" charset="0"/>
                <a:ea typeface="Calibri" panose="020F0502020204030204" pitchFamily="34" charset="0"/>
                <a:cs typeface="Calibri" panose="020F0502020204030204" pitchFamily="34" charset="0"/>
              </a:rPr>
              <a:t>            '$’,</a:t>
            </a:r>
          </a:p>
          <a:p>
            <a:r>
              <a:rPr lang="en-US" sz="2000" dirty="0">
                <a:latin typeface="Calibri" panose="020F0502020204030204" pitchFamily="34" charset="0"/>
                <a:ea typeface="Calibri" panose="020F0502020204030204" pitchFamily="34" charset="0"/>
                <a:cs typeface="Calibri" panose="020F0502020204030204" pitchFamily="34" charset="0"/>
              </a:rPr>
              <a:t>            ‘’) </a:t>
            </a:r>
          </a:p>
          <a:p>
            <a:r>
              <a:rPr lang="en-US" sz="2000" dirty="0">
                <a:latin typeface="Calibri" panose="020F0502020204030204" pitchFamily="34" charset="0"/>
                <a:ea typeface="Calibri" panose="020F0502020204030204" pitchFamily="34" charset="0"/>
                <a:cs typeface="Calibri" panose="020F0502020204030204" pitchFamily="34" charset="0"/>
              </a:rPr>
              <a:t>       AS DECIMAL (10 , 2 ))) / 2) AS avg_salary_range</a:t>
            </a:r>
          </a:p>
          <a:p>
            <a:r>
              <a:rPr lang="en-US" sz="2000" dirty="0">
                <a:latin typeface="Calibri" panose="020F0502020204030204" pitchFamily="34" charset="0"/>
                <a:ea typeface="Calibri" panose="020F0502020204030204" pitchFamily="34" charset="0"/>
                <a:cs typeface="Calibri" panose="020F0502020204030204" pitchFamily="34" charset="0"/>
              </a:rPr>
              <a:t>FROM</a:t>
            </a:r>
          </a:p>
          <a:p>
            <a:r>
              <a:rPr lang="en-US" sz="2000" dirty="0">
                <a:latin typeface="Calibri" panose="020F0502020204030204" pitchFamily="34" charset="0"/>
                <a:ea typeface="Calibri" panose="020F0502020204030204" pitchFamily="34" charset="0"/>
                <a:cs typeface="Calibri" panose="020F0502020204030204" pitchFamily="34" charset="0"/>
              </a:rPr>
              <a:t>    jobdepartment AS jd</a:t>
            </a:r>
          </a:p>
          <a:p>
            <a:r>
              <a:rPr lang="en-US" sz="2000" dirty="0">
                <a:latin typeface="Calibri" panose="020F0502020204030204" pitchFamily="34" charset="0"/>
                <a:ea typeface="Calibri" panose="020F0502020204030204" pitchFamily="34" charset="0"/>
                <a:cs typeface="Calibri" panose="020F0502020204030204" pitchFamily="34" charset="0"/>
              </a:rPr>
              <a:t>GROUP BY jd.jobdept;</a:t>
            </a:r>
          </a:p>
        </p:txBody>
      </p:sp>
      <p:pic>
        <p:nvPicPr>
          <p:cNvPr id="4" name="Picture 3">
            <a:extLst>
              <a:ext uri="{FF2B5EF4-FFF2-40B4-BE49-F238E27FC236}">
                <a16:creationId xmlns:a16="http://schemas.microsoft.com/office/drawing/2014/main" id="{D3D14912-93AA-95D4-8F03-1CB7FA225FF5}"/>
              </a:ext>
            </a:extLst>
          </p:cNvPr>
          <p:cNvPicPr>
            <a:picLocks noChangeAspect="1"/>
          </p:cNvPicPr>
          <p:nvPr/>
        </p:nvPicPr>
        <p:blipFill>
          <a:blip r:embed="rId2"/>
          <a:stretch>
            <a:fillRect/>
          </a:stretch>
        </p:blipFill>
        <p:spPr>
          <a:xfrm>
            <a:off x="8507897" y="1311965"/>
            <a:ext cx="3588026" cy="3697357"/>
          </a:xfrm>
          <a:prstGeom prst="rect">
            <a:avLst/>
          </a:prstGeom>
        </p:spPr>
      </p:pic>
    </p:spTree>
    <p:extLst>
      <p:ext uri="{BB962C8B-B14F-4D97-AF65-F5344CB8AC3E}">
        <p14:creationId xmlns:p14="http://schemas.microsoft.com/office/powerpoint/2010/main" val="4184934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57808B-4BC7-9011-3ED9-354250854671}"/>
              </a:ext>
            </a:extLst>
          </p:cNvPr>
          <p:cNvSpPr txBox="1"/>
          <p:nvPr/>
        </p:nvSpPr>
        <p:spPr>
          <a:xfrm>
            <a:off x="665923" y="616226"/>
            <a:ext cx="8408504" cy="4154984"/>
          </a:xfrm>
          <a:prstGeom prst="rect">
            <a:avLst/>
          </a:prstGeom>
          <a:noFill/>
        </p:spPr>
        <p:txBody>
          <a:bodyPr wrap="square" rtlCol="0">
            <a:spAutoFit/>
          </a:bodyPr>
          <a:lstStyle/>
          <a:p>
            <a:r>
              <a:rPr lang="en-US" sz="2400" dirty="0">
                <a:solidFill>
                  <a:srgbClr val="FF0000"/>
                </a:solidFill>
              </a:rPr>
              <a:t>5. Which departments have the highest total salary allocation?</a:t>
            </a:r>
          </a:p>
          <a:p>
            <a:endParaRPr lang="en-US" sz="2400"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SELECT</a:t>
            </a:r>
          </a:p>
          <a:p>
            <a:r>
              <a:rPr lang="en-US" sz="2400" dirty="0">
                <a:latin typeface="Calibri" panose="020F0502020204030204" pitchFamily="34" charset="0"/>
                <a:ea typeface="Calibri" panose="020F0502020204030204" pitchFamily="34" charset="0"/>
                <a:cs typeface="Calibri" panose="020F0502020204030204" pitchFamily="34" charset="0"/>
              </a:rPr>
              <a:t>     jd.jobdept AS department, SUM(s.amount) AS total_salary</a:t>
            </a:r>
          </a:p>
          <a:p>
            <a:r>
              <a:rPr lang="en-US" sz="2400" dirty="0">
                <a:latin typeface="Calibri" panose="020F0502020204030204" pitchFamily="34" charset="0"/>
                <a:ea typeface="Calibri" panose="020F0502020204030204" pitchFamily="34" charset="0"/>
                <a:cs typeface="Calibri" panose="020F0502020204030204" pitchFamily="34" charset="0"/>
              </a:rPr>
              <a:t>FROM</a:t>
            </a:r>
          </a:p>
          <a:p>
            <a:r>
              <a:rPr lang="en-US" sz="2400" dirty="0">
                <a:latin typeface="Calibri" panose="020F0502020204030204" pitchFamily="34" charset="0"/>
                <a:ea typeface="Calibri" panose="020F0502020204030204" pitchFamily="34" charset="0"/>
                <a:cs typeface="Calibri" panose="020F0502020204030204" pitchFamily="34" charset="0"/>
              </a:rPr>
              <a:t>    jobdepartment jd</a:t>
            </a:r>
          </a:p>
          <a:p>
            <a:r>
              <a:rPr lang="en-US" sz="2400" dirty="0">
                <a:latin typeface="Calibri" panose="020F0502020204030204" pitchFamily="34" charset="0"/>
                <a:ea typeface="Calibri" panose="020F0502020204030204" pitchFamily="34" charset="0"/>
                <a:cs typeface="Calibri" panose="020F0502020204030204" pitchFamily="34" charset="0"/>
              </a:rPr>
              <a:t>        JOIN</a:t>
            </a:r>
          </a:p>
          <a:p>
            <a:r>
              <a:rPr lang="en-US" sz="2400" dirty="0">
                <a:latin typeface="Calibri" panose="020F0502020204030204" pitchFamily="34" charset="0"/>
                <a:ea typeface="Calibri" panose="020F0502020204030204" pitchFamily="34" charset="0"/>
                <a:cs typeface="Calibri" panose="020F0502020204030204" pitchFamily="34" charset="0"/>
              </a:rPr>
              <a:t>    salarybonus s ON jd.Job_ID = s.Job_ID</a:t>
            </a:r>
          </a:p>
          <a:p>
            <a:r>
              <a:rPr lang="en-US" sz="2400" dirty="0">
                <a:latin typeface="Calibri" panose="020F0502020204030204" pitchFamily="34" charset="0"/>
                <a:ea typeface="Calibri" panose="020F0502020204030204" pitchFamily="34" charset="0"/>
                <a:cs typeface="Calibri" panose="020F0502020204030204" pitchFamily="34" charset="0"/>
              </a:rPr>
              <a:t>GROUP BY jd.jobdept</a:t>
            </a:r>
          </a:p>
          <a:p>
            <a:r>
              <a:rPr lang="en-US" sz="2400" dirty="0">
                <a:latin typeface="Calibri" panose="020F0502020204030204" pitchFamily="34" charset="0"/>
                <a:ea typeface="Calibri" panose="020F0502020204030204" pitchFamily="34" charset="0"/>
                <a:cs typeface="Calibri" panose="020F0502020204030204" pitchFamily="34" charset="0"/>
              </a:rPr>
              <a:t>ORDER BY total_salary DESC;</a:t>
            </a:r>
          </a:p>
        </p:txBody>
      </p:sp>
      <p:pic>
        <p:nvPicPr>
          <p:cNvPr id="4" name="Picture 3">
            <a:extLst>
              <a:ext uri="{FF2B5EF4-FFF2-40B4-BE49-F238E27FC236}">
                <a16:creationId xmlns:a16="http://schemas.microsoft.com/office/drawing/2014/main" id="{0444B37B-424D-3D02-CDB3-69C6E791D5E9}"/>
              </a:ext>
            </a:extLst>
          </p:cNvPr>
          <p:cNvPicPr>
            <a:picLocks noChangeAspect="1"/>
          </p:cNvPicPr>
          <p:nvPr/>
        </p:nvPicPr>
        <p:blipFill>
          <a:blip r:embed="rId2"/>
          <a:stretch>
            <a:fillRect/>
          </a:stretch>
        </p:blipFill>
        <p:spPr>
          <a:xfrm>
            <a:off x="8547652" y="1441173"/>
            <a:ext cx="3502794" cy="3330037"/>
          </a:xfrm>
          <a:prstGeom prst="rect">
            <a:avLst/>
          </a:prstGeom>
        </p:spPr>
      </p:pic>
    </p:spTree>
    <p:extLst>
      <p:ext uri="{BB962C8B-B14F-4D97-AF65-F5344CB8AC3E}">
        <p14:creationId xmlns:p14="http://schemas.microsoft.com/office/powerpoint/2010/main" val="2114837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F963E9-45F8-9C29-E0F5-7A5F571A43BC}"/>
              </a:ext>
            </a:extLst>
          </p:cNvPr>
          <p:cNvSpPr txBox="1"/>
          <p:nvPr/>
        </p:nvSpPr>
        <p:spPr>
          <a:xfrm>
            <a:off x="725557" y="735496"/>
            <a:ext cx="8070573" cy="3785652"/>
          </a:xfrm>
          <a:prstGeom prst="rect">
            <a:avLst/>
          </a:prstGeom>
          <a:noFill/>
        </p:spPr>
        <p:txBody>
          <a:bodyPr wrap="square" rtlCol="0">
            <a:spAutoFit/>
          </a:bodyPr>
          <a:lstStyle/>
          <a:p>
            <a:r>
              <a:rPr lang="en-US" sz="2400" dirty="0">
                <a:solidFill>
                  <a:srgbClr val="FF0000"/>
                </a:solidFill>
              </a:rPr>
              <a:t>6. How many employees have at least one qualification listed?</a:t>
            </a:r>
          </a:p>
          <a:p>
            <a:endParaRPr lang="en-US" sz="2400"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SELECT COUNT(*) AS emp_with_qualifications</a:t>
            </a:r>
          </a:p>
          <a:p>
            <a:r>
              <a:rPr lang="en-US" sz="2400" dirty="0">
                <a:latin typeface="Calibri" panose="020F0502020204030204" pitchFamily="34" charset="0"/>
                <a:ea typeface="Calibri" panose="020F0502020204030204" pitchFamily="34" charset="0"/>
                <a:cs typeface="Calibri" panose="020F0502020204030204" pitchFamily="34" charset="0"/>
              </a:rPr>
              <a:t>FROM Employee e</a:t>
            </a:r>
          </a:p>
          <a:p>
            <a:r>
              <a:rPr lang="en-US" sz="2400" dirty="0">
                <a:latin typeface="Calibri" panose="020F0502020204030204" pitchFamily="34" charset="0"/>
                <a:ea typeface="Calibri" panose="020F0502020204030204" pitchFamily="34" charset="0"/>
                <a:cs typeface="Calibri" panose="020F0502020204030204" pitchFamily="34" charset="0"/>
              </a:rPr>
              <a:t>WHERE EXISTS (</a:t>
            </a:r>
          </a:p>
          <a:p>
            <a:r>
              <a:rPr lang="en-US" sz="2400" dirty="0">
                <a:latin typeface="Calibri" panose="020F0502020204030204" pitchFamily="34" charset="0"/>
                <a:ea typeface="Calibri" panose="020F0502020204030204" pitchFamily="34" charset="0"/>
                <a:cs typeface="Calibri" panose="020F0502020204030204" pitchFamily="34" charset="0"/>
              </a:rPr>
              <a:t>    SELECT 1</a:t>
            </a:r>
          </a:p>
          <a:p>
            <a:r>
              <a:rPr lang="en-US" sz="2400" dirty="0">
                <a:latin typeface="Calibri" panose="020F0502020204030204" pitchFamily="34" charset="0"/>
                <a:ea typeface="Calibri" panose="020F0502020204030204" pitchFamily="34" charset="0"/>
                <a:cs typeface="Calibri" panose="020F0502020204030204" pitchFamily="34" charset="0"/>
              </a:rPr>
              <a:t>    FROM Qualification q</a:t>
            </a:r>
          </a:p>
          <a:p>
            <a:r>
              <a:rPr lang="en-US" sz="2400" dirty="0">
                <a:latin typeface="Calibri" panose="020F0502020204030204" pitchFamily="34" charset="0"/>
                <a:ea typeface="Calibri" panose="020F0502020204030204" pitchFamily="34" charset="0"/>
                <a:cs typeface="Calibri" panose="020F0502020204030204" pitchFamily="34" charset="0"/>
              </a:rPr>
              <a:t>    WHERE q.Emp_ID = e.emp_ID</a:t>
            </a:r>
          </a:p>
          <a:p>
            <a:r>
              <a:rPr lang="en-US" sz="2400" dirty="0">
                <a:latin typeface="Calibri" panose="020F0502020204030204" pitchFamily="34" charset="0"/>
                <a:ea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34037FCB-3E46-EAF0-B9BA-A81FF125C56B}"/>
              </a:ext>
            </a:extLst>
          </p:cNvPr>
          <p:cNvPicPr>
            <a:picLocks noChangeAspect="1"/>
          </p:cNvPicPr>
          <p:nvPr/>
        </p:nvPicPr>
        <p:blipFill>
          <a:blip r:embed="rId2"/>
          <a:stretch>
            <a:fillRect/>
          </a:stretch>
        </p:blipFill>
        <p:spPr>
          <a:xfrm>
            <a:off x="8156971" y="2136914"/>
            <a:ext cx="3309472" cy="1550504"/>
          </a:xfrm>
          <a:prstGeom prst="rect">
            <a:avLst/>
          </a:prstGeom>
        </p:spPr>
      </p:pic>
    </p:spTree>
    <p:extLst>
      <p:ext uri="{BB962C8B-B14F-4D97-AF65-F5344CB8AC3E}">
        <p14:creationId xmlns:p14="http://schemas.microsoft.com/office/powerpoint/2010/main" val="2441482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7BD96D-FB3C-DBFD-EA2F-AFEC3ECE5E97}"/>
              </a:ext>
            </a:extLst>
          </p:cNvPr>
          <p:cNvSpPr txBox="1"/>
          <p:nvPr/>
        </p:nvSpPr>
        <p:spPr>
          <a:xfrm>
            <a:off x="387627" y="320456"/>
            <a:ext cx="10277060" cy="6217087"/>
          </a:xfrm>
          <a:prstGeom prst="rect">
            <a:avLst/>
          </a:prstGeom>
          <a:noFill/>
        </p:spPr>
        <p:txBody>
          <a:bodyPr wrap="square" rtlCol="0">
            <a:spAutoFit/>
          </a:bodyPr>
          <a:lstStyle/>
          <a:p>
            <a:r>
              <a:rPr lang="en-US" sz="2400" dirty="0">
                <a:solidFill>
                  <a:srgbClr val="FF0000"/>
                </a:solidFill>
              </a:rPr>
              <a:t>7. Which employees have the highest number of qualifications?</a:t>
            </a:r>
          </a:p>
          <a:p>
            <a:endParaRPr lang="en-US" dirty="0"/>
          </a:p>
          <a:p>
            <a:r>
              <a:rPr lang="en-US" sz="2000" dirty="0">
                <a:latin typeface="Calibri" panose="020F0502020204030204" pitchFamily="34" charset="0"/>
                <a:ea typeface="Calibri" panose="020F0502020204030204" pitchFamily="34" charset="0"/>
                <a:cs typeface="Calibri" panose="020F0502020204030204" pitchFamily="34" charset="0"/>
              </a:rPr>
              <a:t>WITH employee_qualifications AS (</a:t>
            </a:r>
          </a:p>
          <a:p>
            <a:r>
              <a:rPr lang="en-US" sz="2000" dirty="0">
                <a:latin typeface="Calibri" panose="020F0502020204030204" pitchFamily="34" charset="0"/>
                <a:ea typeface="Calibri" panose="020F0502020204030204" pitchFamily="34" charset="0"/>
                <a:cs typeface="Calibri" panose="020F0502020204030204" pitchFamily="34" charset="0"/>
              </a:rPr>
              <a:t>    SELECT</a:t>
            </a:r>
          </a:p>
          <a:p>
            <a:r>
              <a:rPr lang="en-US" sz="2000" dirty="0">
                <a:latin typeface="Calibri" panose="020F0502020204030204" pitchFamily="34" charset="0"/>
                <a:ea typeface="Calibri" panose="020F0502020204030204" pitchFamily="34" charset="0"/>
                <a:cs typeface="Calibri" panose="020F0502020204030204" pitchFamily="34" charset="0"/>
              </a:rPr>
              <a:t>        e.emp_ID,</a:t>
            </a:r>
          </a:p>
          <a:p>
            <a:r>
              <a:rPr lang="en-US" sz="2000" dirty="0">
                <a:latin typeface="Calibri" panose="020F0502020204030204" pitchFamily="34" charset="0"/>
                <a:ea typeface="Calibri" panose="020F0502020204030204" pitchFamily="34" charset="0"/>
                <a:cs typeface="Calibri" panose="020F0502020204030204" pitchFamily="34" charset="0"/>
              </a:rPr>
              <a:t>        CONCAT(e.firstname, ' ', e.lastname) AS employee_name,</a:t>
            </a:r>
          </a:p>
          <a:p>
            <a:r>
              <a:rPr lang="en-US" sz="2000" dirty="0">
                <a:latin typeface="Calibri" panose="020F0502020204030204" pitchFamily="34" charset="0"/>
                <a:ea typeface="Calibri" panose="020F0502020204030204" pitchFamily="34" charset="0"/>
                <a:cs typeface="Calibri" panose="020F0502020204030204" pitchFamily="34" charset="0"/>
              </a:rPr>
              <a:t>        COUNT(q.QualID) AS qualification_count</a:t>
            </a:r>
          </a:p>
          <a:p>
            <a:r>
              <a:rPr lang="en-US" sz="2000" dirty="0">
                <a:latin typeface="Calibri" panose="020F0502020204030204" pitchFamily="34" charset="0"/>
                <a:ea typeface="Calibri" panose="020F0502020204030204" pitchFamily="34" charset="0"/>
                <a:cs typeface="Calibri" panose="020F0502020204030204" pitchFamily="34" charset="0"/>
              </a:rPr>
              <a:t>    FROM Employee e</a:t>
            </a:r>
          </a:p>
          <a:p>
            <a:r>
              <a:rPr lang="en-US" sz="2000" dirty="0">
                <a:latin typeface="Calibri" panose="020F0502020204030204" pitchFamily="34" charset="0"/>
                <a:ea typeface="Calibri" panose="020F0502020204030204" pitchFamily="34" charset="0"/>
                <a:cs typeface="Calibri" panose="020F0502020204030204" pitchFamily="34" charset="0"/>
              </a:rPr>
              <a:t>    JOIN Qualification q</a:t>
            </a:r>
          </a:p>
          <a:p>
            <a:r>
              <a:rPr lang="en-US" sz="2000" dirty="0">
                <a:latin typeface="Calibri" panose="020F0502020204030204" pitchFamily="34" charset="0"/>
                <a:ea typeface="Calibri" panose="020F0502020204030204" pitchFamily="34" charset="0"/>
                <a:cs typeface="Calibri" panose="020F0502020204030204" pitchFamily="34" charset="0"/>
              </a:rPr>
              <a:t>        ON e.emp_ID = q.Emp_ID</a:t>
            </a:r>
          </a:p>
          <a:p>
            <a:r>
              <a:rPr lang="en-US" sz="2000" dirty="0">
                <a:latin typeface="Calibri" panose="020F0502020204030204" pitchFamily="34" charset="0"/>
                <a:ea typeface="Calibri" panose="020F0502020204030204" pitchFamily="34" charset="0"/>
                <a:cs typeface="Calibri" panose="020F0502020204030204" pitchFamily="34" charset="0"/>
              </a:rPr>
              <a:t>    GROUP BY e.emp_ID, e.firstname, e.lastname</a:t>
            </a:r>
          </a:p>
          <a:p>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dirty="0">
                <a:latin typeface="Calibri" panose="020F0502020204030204" pitchFamily="34" charset="0"/>
                <a:ea typeface="Calibri" panose="020F0502020204030204" pitchFamily="34" charset="0"/>
                <a:cs typeface="Calibri" panose="020F0502020204030204" pitchFamily="34" charset="0"/>
              </a:rPr>
              <a:t>SELECT emp_ID,</a:t>
            </a:r>
          </a:p>
          <a:p>
            <a:r>
              <a:rPr lang="en-US" sz="2000" dirty="0">
                <a:latin typeface="Calibri" panose="020F0502020204030204" pitchFamily="34" charset="0"/>
                <a:ea typeface="Calibri" panose="020F0502020204030204" pitchFamily="34" charset="0"/>
                <a:cs typeface="Calibri" panose="020F0502020204030204" pitchFamily="34" charset="0"/>
              </a:rPr>
              <a:t>       employee_name,</a:t>
            </a:r>
          </a:p>
          <a:p>
            <a:r>
              <a:rPr lang="en-US" sz="2000" dirty="0">
                <a:latin typeface="Calibri" panose="020F0502020204030204" pitchFamily="34" charset="0"/>
                <a:ea typeface="Calibri" panose="020F0502020204030204" pitchFamily="34" charset="0"/>
                <a:cs typeface="Calibri" panose="020F0502020204030204" pitchFamily="34" charset="0"/>
              </a:rPr>
              <a:t>       qualification_count</a:t>
            </a:r>
          </a:p>
          <a:p>
            <a:r>
              <a:rPr lang="en-US" sz="2000" dirty="0">
                <a:latin typeface="Calibri" panose="020F0502020204030204" pitchFamily="34" charset="0"/>
                <a:ea typeface="Calibri" panose="020F0502020204030204" pitchFamily="34" charset="0"/>
                <a:cs typeface="Calibri" panose="020F0502020204030204" pitchFamily="34" charset="0"/>
              </a:rPr>
              <a:t>FROM employee_qualifications</a:t>
            </a:r>
          </a:p>
          <a:p>
            <a:r>
              <a:rPr lang="en-US" sz="2000" dirty="0">
                <a:latin typeface="Calibri" panose="020F0502020204030204" pitchFamily="34" charset="0"/>
                <a:ea typeface="Calibri" panose="020F0502020204030204" pitchFamily="34" charset="0"/>
                <a:cs typeface="Calibri" panose="020F0502020204030204" pitchFamily="34" charset="0"/>
              </a:rPr>
              <a:t>WHERE qualification_count = (</a:t>
            </a:r>
          </a:p>
          <a:p>
            <a:r>
              <a:rPr lang="en-US" sz="2000" dirty="0">
                <a:latin typeface="Calibri" panose="020F0502020204030204" pitchFamily="34" charset="0"/>
                <a:ea typeface="Calibri" panose="020F0502020204030204" pitchFamily="34" charset="0"/>
                <a:cs typeface="Calibri" panose="020F0502020204030204" pitchFamily="34" charset="0"/>
              </a:rPr>
              <a:t>    SELECT MAX(qualification_count)</a:t>
            </a:r>
          </a:p>
          <a:p>
            <a:r>
              <a:rPr lang="en-US" sz="2000" dirty="0">
                <a:latin typeface="Calibri" panose="020F0502020204030204" pitchFamily="34" charset="0"/>
                <a:ea typeface="Calibri" panose="020F0502020204030204" pitchFamily="34" charset="0"/>
                <a:cs typeface="Calibri" panose="020F0502020204030204" pitchFamily="34" charset="0"/>
              </a:rPr>
              <a:t>    FROM employee_qualifications</a:t>
            </a:r>
          </a:p>
          <a:p>
            <a:r>
              <a:rPr lang="en-US" sz="2000" dirty="0">
                <a:latin typeface="Calibri" panose="020F0502020204030204" pitchFamily="34" charset="0"/>
                <a:ea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FE241A0F-0072-9AA4-479F-8032E1FB2F56}"/>
              </a:ext>
            </a:extLst>
          </p:cNvPr>
          <p:cNvPicPr>
            <a:picLocks noChangeAspect="1"/>
          </p:cNvPicPr>
          <p:nvPr/>
        </p:nvPicPr>
        <p:blipFill>
          <a:blip r:embed="rId2"/>
          <a:stretch>
            <a:fillRect/>
          </a:stretch>
        </p:blipFill>
        <p:spPr>
          <a:xfrm>
            <a:off x="7732643" y="1520687"/>
            <a:ext cx="4071730" cy="3925956"/>
          </a:xfrm>
          <a:prstGeom prst="rect">
            <a:avLst/>
          </a:prstGeom>
        </p:spPr>
      </p:pic>
    </p:spTree>
    <p:extLst>
      <p:ext uri="{BB962C8B-B14F-4D97-AF65-F5344CB8AC3E}">
        <p14:creationId xmlns:p14="http://schemas.microsoft.com/office/powerpoint/2010/main" val="175074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D3CA4B-2C51-8FDE-6948-85F5237164CB}"/>
              </a:ext>
            </a:extLst>
          </p:cNvPr>
          <p:cNvSpPr txBox="1"/>
          <p:nvPr/>
        </p:nvSpPr>
        <p:spPr>
          <a:xfrm>
            <a:off x="477078" y="437322"/>
            <a:ext cx="9541565" cy="4678204"/>
          </a:xfrm>
          <a:prstGeom prst="rect">
            <a:avLst/>
          </a:prstGeom>
          <a:noFill/>
        </p:spPr>
        <p:txBody>
          <a:bodyPr wrap="square" rtlCol="0">
            <a:spAutoFit/>
          </a:bodyPr>
          <a:lstStyle/>
          <a:p>
            <a:r>
              <a:rPr lang="en-US" sz="2400" dirty="0">
                <a:solidFill>
                  <a:srgbClr val="FF0000"/>
                </a:solidFill>
              </a:rPr>
              <a:t>8. What is the total monthly payroll processed?</a:t>
            </a:r>
          </a:p>
          <a:p>
            <a:endParaRPr lang="en-US" dirty="0"/>
          </a:p>
          <a:p>
            <a:r>
              <a:rPr lang="en-US" sz="2000" dirty="0"/>
              <a:t>DELIMITER $$</a:t>
            </a:r>
          </a:p>
          <a:p>
            <a:r>
              <a:rPr lang="en-US" sz="2000" dirty="0"/>
              <a:t>CREATE PROCEDURE GetMonthlyPayroll(IN payroll_month INT)</a:t>
            </a:r>
          </a:p>
          <a:p>
            <a:r>
              <a:rPr lang="en-US" sz="2000" dirty="0"/>
              <a:t>BEGIN</a:t>
            </a:r>
          </a:p>
          <a:p>
            <a:r>
              <a:rPr lang="en-US" sz="2000" dirty="0"/>
              <a:t>    SELECT</a:t>
            </a:r>
          </a:p>
          <a:p>
            <a:r>
              <a:rPr lang="en-US" sz="2000" dirty="0"/>
              <a:t>        MONTHNAME(date) AS month,</a:t>
            </a:r>
          </a:p>
          <a:p>
            <a:r>
              <a:rPr lang="en-US" sz="2000" dirty="0"/>
              <a:t>        SUM(total_amount) AS total_monthly_payroll</a:t>
            </a:r>
          </a:p>
          <a:p>
            <a:r>
              <a:rPr lang="en-US" sz="2000" dirty="0"/>
              <a:t>    FROM Payroll</a:t>
            </a:r>
          </a:p>
          <a:p>
            <a:r>
              <a:rPr lang="en-US" sz="2000" dirty="0"/>
              <a:t>    WHERE MONTH(date) = payroll_month</a:t>
            </a:r>
          </a:p>
          <a:p>
            <a:r>
              <a:rPr lang="en-US" sz="2000" dirty="0"/>
              <a:t>    GROUP BY MONTH(date), MONTHNAME(date);</a:t>
            </a:r>
          </a:p>
          <a:p>
            <a:r>
              <a:rPr lang="en-US" sz="2000" dirty="0"/>
              <a:t>END $$</a:t>
            </a:r>
          </a:p>
          <a:p>
            <a:r>
              <a:rPr lang="en-US" sz="2000" dirty="0"/>
              <a:t>DELIMITER ;</a:t>
            </a:r>
          </a:p>
          <a:p>
            <a:endParaRPr lang="en-US" sz="2000" dirty="0"/>
          </a:p>
          <a:p>
            <a:r>
              <a:rPr lang="en-US" sz="2000" dirty="0"/>
              <a:t>CALL GetMonthlyPayroll(3);</a:t>
            </a:r>
          </a:p>
        </p:txBody>
      </p:sp>
      <p:pic>
        <p:nvPicPr>
          <p:cNvPr id="4" name="Picture 3">
            <a:extLst>
              <a:ext uri="{FF2B5EF4-FFF2-40B4-BE49-F238E27FC236}">
                <a16:creationId xmlns:a16="http://schemas.microsoft.com/office/drawing/2014/main" id="{B302FFAC-7BB2-1F74-41EA-267B82BC4DFF}"/>
              </a:ext>
            </a:extLst>
          </p:cNvPr>
          <p:cNvPicPr>
            <a:picLocks noChangeAspect="1"/>
          </p:cNvPicPr>
          <p:nvPr/>
        </p:nvPicPr>
        <p:blipFill>
          <a:blip r:embed="rId2"/>
          <a:stretch>
            <a:fillRect/>
          </a:stretch>
        </p:blipFill>
        <p:spPr>
          <a:xfrm>
            <a:off x="8269356" y="2648778"/>
            <a:ext cx="3703983" cy="1560443"/>
          </a:xfrm>
          <a:prstGeom prst="rect">
            <a:avLst/>
          </a:prstGeom>
        </p:spPr>
      </p:pic>
    </p:spTree>
    <p:extLst>
      <p:ext uri="{BB962C8B-B14F-4D97-AF65-F5344CB8AC3E}">
        <p14:creationId xmlns:p14="http://schemas.microsoft.com/office/powerpoint/2010/main" val="2934257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AB5100-A08A-02CC-F12C-D2317C113B4C}"/>
              </a:ext>
            </a:extLst>
          </p:cNvPr>
          <p:cNvSpPr txBox="1"/>
          <p:nvPr/>
        </p:nvSpPr>
        <p:spPr>
          <a:xfrm>
            <a:off x="377687" y="467139"/>
            <a:ext cx="10873409" cy="6524863"/>
          </a:xfrm>
          <a:prstGeom prst="rect">
            <a:avLst/>
          </a:prstGeom>
          <a:noFill/>
        </p:spPr>
        <p:txBody>
          <a:bodyPr wrap="square" rtlCol="0">
            <a:spAutoFit/>
          </a:bodyPr>
          <a:lstStyle/>
          <a:p>
            <a:r>
              <a:rPr lang="en-US" sz="3200" b="1" u="sng" dirty="0">
                <a:solidFill>
                  <a:srgbClr val="FF0000"/>
                </a:solidFill>
              </a:rPr>
              <a:t>Key Insights:</a:t>
            </a:r>
          </a:p>
          <a:p>
            <a:endParaRPr lang="en-US" b="1" dirty="0"/>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identifies the total number of unique employees currently recorded in the system.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Salary analysis helps compare the average compensation levels across different departments.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query highlights the five employees receiving the highest salaries in the organization.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determines the overall salary expenditure of the company.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salary ranges help compare the typical compensation levels offered across departments.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identifies the departments receiving the largest share of the company’s salary allocation.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query identifies how many employees have at least one qualification recorded in the system. </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highlights employees who have the greatest number of qualifications listed.</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Leave data helps compare the average number of leave days taken by employees across departments.</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identifies employees who have taken the highest number of leaves.</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payroll analysis shows the total amount processed by the company on a monthly basis.</a:t>
            </a:r>
          </a:p>
          <a:p>
            <a:pPr marL="285750" indent="-28575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13741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71768C-0FAD-7F89-28D1-9DF7E7410146}"/>
              </a:ext>
            </a:extLst>
          </p:cNvPr>
          <p:cNvSpPr txBox="1"/>
          <p:nvPr/>
        </p:nvSpPr>
        <p:spPr>
          <a:xfrm>
            <a:off x="556590" y="685800"/>
            <a:ext cx="11012557" cy="3385542"/>
          </a:xfrm>
          <a:prstGeom prst="rect">
            <a:avLst/>
          </a:prstGeom>
          <a:noFill/>
        </p:spPr>
        <p:txBody>
          <a:bodyPr wrap="square" rtlCol="0">
            <a:spAutoFit/>
          </a:bodyPr>
          <a:lstStyle/>
          <a:p>
            <a:r>
              <a:rPr lang="en-US" sz="3200" b="1" u="sng" dirty="0">
                <a:solidFill>
                  <a:srgbClr val="FF0000"/>
                </a:solidFill>
              </a:rPr>
              <a:t>Recommendations</a:t>
            </a:r>
          </a:p>
          <a:p>
            <a:endParaRPr lang="en-US" b="1" dirty="0"/>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Regularly monitor </a:t>
            </a:r>
            <a:r>
              <a:rPr lang="en-US" sz="2400" b="1" dirty="0">
                <a:latin typeface="Calibri" panose="020F0502020204030204" pitchFamily="34" charset="0"/>
                <a:ea typeface="Calibri" panose="020F0502020204030204" pitchFamily="34" charset="0"/>
                <a:cs typeface="Calibri" panose="020F0502020204030204" pitchFamily="34" charset="0"/>
              </a:rPr>
              <a:t>salary and payroll expenses</a:t>
            </a:r>
            <a:r>
              <a:rPr lang="en-US" sz="2400" dirty="0">
                <a:latin typeface="Calibri" panose="020F0502020204030204" pitchFamily="34" charset="0"/>
                <a:ea typeface="Calibri" panose="020F0502020204030204" pitchFamily="34" charset="0"/>
                <a:cs typeface="Calibri" panose="020F0502020204030204" pitchFamily="34" charset="0"/>
              </a:rPr>
              <a:t> for better budget management.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Review departments with </a:t>
            </a:r>
            <a:r>
              <a:rPr lang="en-US" sz="2400" b="1" dirty="0">
                <a:latin typeface="Calibri" panose="020F0502020204030204" pitchFamily="34" charset="0"/>
                <a:ea typeface="Calibri" panose="020F0502020204030204" pitchFamily="34" charset="0"/>
                <a:cs typeface="Calibri" panose="020F0502020204030204" pitchFamily="34" charset="0"/>
              </a:rPr>
              <a:t>higher leave rates</a:t>
            </a:r>
            <a:r>
              <a:rPr lang="en-US" sz="2400" dirty="0">
                <a:latin typeface="Calibri" panose="020F0502020204030204" pitchFamily="34" charset="0"/>
                <a:ea typeface="Calibri" panose="020F0502020204030204" pitchFamily="34" charset="0"/>
                <a:cs typeface="Calibri" panose="020F0502020204030204" pitchFamily="34" charset="0"/>
              </a:rPr>
              <a:t> to improve workforce planning.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Encourage employees to participate in </a:t>
            </a:r>
            <a:r>
              <a:rPr lang="en-US" sz="2400" b="1" dirty="0">
                <a:latin typeface="Calibri" panose="020F0502020204030204" pitchFamily="34" charset="0"/>
                <a:ea typeface="Calibri" panose="020F0502020204030204" pitchFamily="34" charset="0"/>
                <a:cs typeface="Calibri" panose="020F0502020204030204" pitchFamily="34" charset="0"/>
              </a:rPr>
              <a:t>skill-development and training programs</a:t>
            </a:r>
            <a:r>
              <a:rPr 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Periodically review </a:t>
            </a:r>
            <a:r>
              <a:rPr lang="en-US" sz="2400" b="1" dirty="0">
                <a:latin typeface="Calibri" panose="020F0502020204030204" pitchFamily="34" charset="0"/>
                <a:ea typeface="Calibri" panose="020F0502020204030204" pitchFamily="34" charset="0"/>
                <a:cs typeface="Calibri" panose="020F0502020204030204" pitchFamily="34" charset="0"/>
              </a:rPr>
              <a:t>salary ranges and bonuses</a:t>
            </a:r>
            <a:r>
              <a:rPr lang="en-US" sz="2400" dirty="0">
                <a:latin typeface="Calibri" panose="020F0502020204030204" pitchFamily="34" charset="0"/>
                <a:ea typeface="Calibri" panose="020F0502020204030204" pitchFamily="34" charset="0"/>
                <a:cs typeface="Calibri" panose="020F0502020204030204" pitchFamily="34" charset="0"/>
              </a:rPr>
              <a:t> to maintain fair compensation.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Use employee qualification data to identify </a:t>
            </a:r>
            <a:r>
              <a:rPr lang="en-US" sz="2400" b="1" dirty="0">
                <a:latin typeface="Calibri" panose="020F0502020204030204" pitchFamily="34" charset="0"/>
                <a:ea typeface="Calibri" panose="020F0502020204030204" pitchFamily="34" charset="0"/>
                <a:cs typeface="Calibri" panose="020F0502020204030204" pitchFamily="34" charset="0"/>
              </a:rPr>
              <a:t>training and development needs</a:t>
            </a:r>
            <a:r>
              <a:rPr 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Analyze payroll trends to support </a:t>
            </a:r>
            <a:r>
              <a:rPr lang="en-US" sz="2400" b="1" dirty="0">
                <a:latin typeface="Calibri" panose="020F0502020204030204" pitchFamily="34" charset="0"/>
                <a:ea typeface="Calibri" panose="020F0502020204030204" pitchFamily="34" charset="0"/>
                <a:cs typeface="Calibri" panose="020F0502020204030204" pitchFamily="34" charset="0"/>
              </a:rPr>
              <a:t>better financial planning and resource allocation</a:t>
            </a:r>
            <a:r>
              <a:rPr 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Use employee and department insights to support </a:t>
            </a:r>
            <a:r>
              <a:rPr lang="en-US" sz="2400" b="1" dirty="0">
                <a:latin typeface="Calibri" panose="020F0502020204030204" pitchFamily="34" charset="0"/>
                <a:ea typeface="Calibri" panose="020F0502020204030204" pitchFamily="34" charset="0"/>
                <a:cs typeface="Calibri" panose="020F0502020204030204" pitchFamily="34" charset="0"/>
              </a:rPr>
              <a:t>data-driven HR decisions</a:t>
            </a:r>
            <a:r>
              <a:rPr lang="en-US" sz="24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73877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4F9331-5899-4F0E-D9DB-56CF27EC1874}"/>
              </a:ext>
            </a:extLst>
          </p:cNvPr>
          <p:cNvSpPr txBox="1"/>
          <p:nvPr/>
        </p:nvSpPr>
        <p:spPr>
          <a:xfrm>
            <a:off x="755374" y="576470"/>
            <a:ext cx="10386391" cy="4031873"/>
          </a:xfrm>
          <a:prstGeom prst="rect">
            <a:avLst/>
          </a:prstGeom>
          <a:noFill/>
        </p:spPr>
        <p:txBody>
          <a:bodyPr wrap="square" rtlCol="0">
            <a:spAutoFit/>
          </a:bodyPr>
          <a:lstStyle/>
          <a:p>
            <a:r>
              <a:rPr lang="en-US" sz="3200" b="1" u="sng" dirty="0">
                <a:solidFill>
                  <a:srgbClr val="FF0000"/>
                </a:solidFill>
              </a:rPr>
              <a:t>Conclusion</a:t>
            </a:r>
          </a:p>
          <a:p>
            <a:endParaRPr lang="en-US" sz="3200" b="1" u="sng" dirty="0">
              <a:solidFill>
                <a:srgbClr val="FF0000"/>
              </a:solidFill>
            </a:endParaRPr>
          </a:p>
          <a:p>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b="1" dirty="0">
                <a:latin typeface="Calibri" panose="020F0502020204030204" pitchFamily="34" charset="0"/>
                <a:ea typeface="Calibri" panose="020F0502020204030204" pitchFamily="34" charset="0"/>
                <a:cs typeface="Calibri" panose="020F0502020204030204" pitchFamily="34" charset="0"/>
              </a:rPr>
              <a:t>Employee Management System</a:t>
            </a:r>
            <a:r>
              <a:rPr lang="en-US" sz="2400" dirty="0">
                <a:latin typeface="Calibri" panose="020F0502020204030204" pitchFamily="34" charset="0"/>
                <a:ea typeface="Calibri" panose="020F0502020204030204" pitchFamily="34" charset="0"/>
                <a:cs typeface="Calibri" panose="020F0502020204030204" pitchFamily="34" charset="0"/>
              </a:rPr>
              <a:t> successfully demonstrates how SQL can be used to organize and analyze employee-related data in a structured way. The project provides insights into employees, departments, job roles, salaries, qualifications, leaves, and payroll. Through different SQL queries and techniques, important patterns related to compensation, workforce distribution, qualifications, and employee attendance can be identified. Overall, the project shows how effective data analysis can support </a:t>
            </a:r>
            <a:r>
              <a:rPr lang="en-US" sz="2400" b="1" dirty="0">
                <a:latin typeface="Calibri" panose="020F0502020204030204" pitchFamily="34" charset="0"/>
                <a:ea typeface="Calibri" panose="020F0502020204030204" pitchFamily="34" charset="0"/>
                <a:cs typeface="Calibri" panose="020F0502020204030204" pitchFamily="34" charset="0"/>
              </a:rPr>
              <a:t>better HR management, informed decision-making, and efficient workforce planning</a:t>
            </a:r>
            <a:r>
              <a:rPr lang="en-US" sz="24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29111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2DE13-3767-DAA9-61F6-F3EFEF2786CC}"/>
              </a:ext>
            </a:extLst>
          </p:cNvPr>
          <p:cNvSpPr txBox="1"/>
          <p:nvPr/>
        </p:nvSpPr>
        <p:spPr>
          <a:xfrm>
            <a:off x="2786270" y="2816087"/>
            <a:ext cx="6867939" cy="707886"/>
          </a:xfrm>
          <a:prstGeom prst="rect">
            <a:avLst/>
          </a:prstGeom>
          <a:noFill/>
        </p:spPr>
        <p:txBody>
          <a:bodyPr wrap="square" rtlCol="0">
            <a:spAutoFit/>
          </a:bodyPr>
          <a:lstStyle/>
          <a:p>
            <a:r>
              <a:rPr lang="en-IN" b="1" dirty="0"/>
              <a:t>                                                  </a:t>
            </a:r>
            <a:r>
              <a:rPr lang="en-IN" sz="4000" b="1" dirty="0">
                <a:solidFill>
                  <a:srgbClr val="FF0000"/>
                </a:solidFill>
              </a:rPr>
              <a:t>Q&amp;A</a:t>
            </a:r>
            <a:endParaRPr lang="en-US" sz="4000" dirty="0">
              <a:solidFill>
                <a:srgbClr val="FF0000"/>
              </a:solidFill>
            </a:endParaRPr>
          </a:p>
        </p:txBody>
      </p:sp>
    </p:spTree>
    <p:extLst>
      <p:ext uri="{BB962C8B-B14F-4D97-AF65-F5344CB8AC3E}">
        <p14:creationId xmlns:p14="http://schemas.microsoft.com/office/powerpoint/2010/main" val="1637717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1646</Words>
  <Application>Microsoft Office PowerPoint</Application>
  <PresentationFormat>Widescreen</PresentationFormat>
  <Paragraphs>300</Paragraphs>
  <Slides>23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Calibri</vt:lpstr>
      <vt:lpstr>Lato Black</vt:lpstr>
      <vt:lpstr>Arial</vt:lpstr>
      <vt:lpstr>Libre Baskerville</vt:lpstr>
      <vt:lpstr>Office Theme</vt:lpstr>
      <vt:lpstr>PowerPoint Presentation</vt:lpstr>
      <vt:lpstr>PowerPoint Presentation</vt:lpstr>
      <vt:lpstr>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shubhangi galpalwar</cp:lastModifiedBy>
  <cp:revision>8</cp:revision>
  <dcterms:created xsi:type="dcterms:W3CDTF">2021-02-16T05:19:01Z</dcterms:created>
  <dcterms:modified xsi:type="dcterms:W3CDTF">2026-10-10T06:10:29Z</dcterms:modified>
</cp:coreProperties>
</file>